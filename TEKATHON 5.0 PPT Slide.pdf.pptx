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svg" ContentType="image/svg+xml"/>
  <Override PartName="/ppt/media/image2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embeddedFontLst>
    <p:embeddedFont>
      <p:font typeface="Times New Roman Bold Italics" charset="1" panose="02020703060505090304"/>
      <p:regular r:id="rId12"/>
    </p:embeddedFont>
    <p:embeddedFont>
      <p:font typeface="Garamond" charset="1" panose="02020404030301010803"/>
      <p:regular r:id="rId13"/>
    </p:embeddedFont>
    <p:embeddedFont>
      <p:font typeface="Arial" charset="1" panose="020B0604020202020204"/>
      <p:regular r:id="rId14"/>
    </p:embeddedFont>
    <p:embeddedFont>
      <p:font typeface="Arial Bold Italics" charset="1" panose="020B0704020202090204"/>
      <p:regular r:id="rId15"/>
    </p:embeddedFont>
    <p:embeddedFont>
      <p:font typeface="TT Milks Casual 900 Two" charset="1" panose="02000503020000020003"/>
      <p:regular r:id="rId16"/>
    </p:embeddedFont>
    <p:embeddedFont>
      <p:font typeface="IBM Plex Sans Condensed" charset="1" panose="020B0506050203000203"/>
      <p:regular r:id="rId17"/>
    </p:embeddedFont>
    <p:embeddedFont>
      <p:font typeface="Garamond Bold" charset="1" panose="02020804030307010803"/>
      <p:regular r:id="rId18"/>
    </p:embeddedFont>
    <p:embeddedFont>
      <p:font typeface="Canva Sans Bold" charset="1" panose="020B0803030501040103"/>
      <p:regular r:id="rId19"/>
    </p:embeddedFont>
    <p:embeddedFont>
      <p:font typeface="Arial Bold" charset="1" panose="020B0704020202020204"/>
      <p:regular r:id="rId20"/>
    </p:embeddedFont>
    <p:embeddedFont>
      <p:font typeface="Canva Sans" charset="1" panose="020B0503030501040103"/>
      <p:regular r:id="rId21"/>
    </p:embeddedFon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12.jpeg"/><Relationship Id="rId8" Type="http://schemas.openxmlformats.org/officeDocument/2006/relationships/image" Target="../media/image13.jpe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6.jpe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20.jpeg"/><Relationship Id="rId8" Type="http://schemas.openxmlformats.org/officeDocument/2006/relationships/hyperlink" Target="https://sih-edcat.vercel.app" TargetMode="External"/><Relationship Id="rId9" Type="http://schemas.openxmlformats.org/officeDocument/2006/relationships/hyperlink" Target="https://csrc.nist.gov/pubs/fips/203/final?utm_source=chatgpt.com" TargetMode="External"/><Relationship Id="rId10" Type="http://schemas.openxmlformats.org/officeDocument/2006/relationships/hyperlink" Target="https://csrc.nist.gov/pubs/fips/204/final?utm_source=chatgpt.com" TargetMode="External"/><Relationship Id="rId11" Type="http://schemas.openxmlformats.org/officeDocument/2006/relationships/hyperlink" Target="https://csrc.nist.gov/projects/post-quantum-cryptography?utm_source=chatgpt.com" TargetMode="External"/><Relationship Id="rId12" Type="http://schemas.openxmlformats.org/officeDocument/2006/relationships/hyperlink" Target="https://csrc.nist.gov/projects/post-quantum-cryptography?utm_source=chatgpt.com" TargetMode="External"/><Relationship Id="rId13" Type="http://schemas.openxmlformats.org/officeDocument/2006/relationships/hyperlink" Target="https://github.com/CycloneDX/bom-examples/tree/master/CBOM?utm_source=chatgpt.com" TargetMode="External"/><Relationship Id="rId14" Type="http://schemas.openxmlformats.org/officeDocument/2006/relationships/hyperlink" Target="https://www.paloaltonetworks.com/cyberpedia/harvest-now-decrypt-later-hndl?utm_source=chatgpt.com" TargetMode="External"/><Relationship Id="rId15" Type="http://schemas.openxmlformats.org/officeDocument/2006/relationships/hyperlink" Target="https://www.paloaltonetworks.com/cyberpedia/harvest-now-decrypt-later-hndl?utm_source=chatgpt.com" TargetMode="External"/><Relationship Id="rId16" Type="http://schemas.openxmlformats.org/officeDocument/2006/relationships/hyperlink" Target="https://eprint.iacr.org/2015/1075?utm_source=chatgpt.com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0" y="-1"/>
            <a:ext cx="9144000" cy="6858000"/>
          </a:xfrm>
          <a:custGeom>
            <a:avLst/>
            <a:gdLst/>
            <a:ahLst/>
            <a:cxnLst/>
            <a:rect r="r" b="b" t="t" l="l"/>
            <a:pathLst>
              <a:path h="6858000" w="9144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3296" y="298704"/>
            <a:ext cx="2042160" cy="871728"/>
            <a:chOff x="0" y="0"/>
            <a:chExt cx="2722880" cy="1162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378440" y="298704"/>
            <a:ext cx="1167384" cy="1024128"/>
            <a:chOff x="0" y="0"/>
            <a:chExt cx="1556512" cy="1365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277230" y="1188091"/>
            <a:ext cx="2519229" cy="56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rPr sz="1800" b="1">
                <a:solidFill>
                  <a:srgbClr val="0F172A"/>
                </a:solidFill>
                <a:latin typeface="Segoe UI"/>
              </a:rPr>
              <a:t>ECDAT | Post-Quantum Migration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32889" y="356778"/>
            <a:ext cx="5136013" cy="68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sz="401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TEKATHON-5.0-</a:t>
            </a:r>
            <a:r>
              <a:rPr lang="en-US" sz="401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401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840" y="2194560"/>
            <a:ext cx="1005840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• Problem Statement ID:</a:t>
            </a:r>
            <a:r>
              <a:rPr sz="1500">
                <a:solidFill>
                  <a:srgbClr val="334155"/>
                </a:solidFill>
                <a:latin typeface="Segoe UI"/>
              </a:rPr>
              <a:t> SIH26164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• Problem Statement Title:</a:t>
            </a:r>
            <a:r>
              <a:rPr sz="1500">
                <a:solidFill>
                  <a:srgbClr val="334155"/>
                </a:solidFill>
                <a:latin typeface="Segoe UI"/>
              </a:rPr>
              <a:t> Enterprise Cryptographic Discovery and Analysis Tool (ECDAT) for Post-Quantum Migration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• Theme:</a:t>
            </a:r>
            <a:r>
              <a:rPr sz="1500">
                <a:solidFill>
                  <a:srgbClr val="334155"/>
                </a:solidFill>
                <a:latin typeface="Segoe UI"/>
              </a:rPr>
              <a:t> Cyber Security / Space &amp; Defense (NTRO Partnership)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• PS Category:</a:t>
            </a:r>
            <a:r>
              <a:rPr sz="1500">
                <a:solidFill>
                  <a:srgbClr val="334155"/>
                </a:solidFill>
                <a:latin typeface="Segoe UI"/>
              </a:rPr>
              <a:t> Software Edition  |  Project: ECDAT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• Live Production Platform:</a:t>
            </a:r>
            <a:r>
              <a:rPr sz="1500">
                <a:solidFill>
                  <a:srgbClr val="334155"/>
                </a:solidFill>
                <a:latin typeface="Segoe UI"/>
              </a:rPr>
              <a:t> https://sih-edcat.vercel.app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550">
                <a:latin typeface="Segoe UI"/>
              </a:defRPr>
            </a:pPr>
            <a:r>
              <a:rPr sz="1550" b="1">
                <a:solidFill>
                  <a:srgbClr val="0F172A"/>
                </a:solidFill>
                <a:latin typeface="Segoe UI"/>
              </a:rPr>
              <a:t>• Core Innovation:</a:t>
            </a:r>
            <a:r>
              <a:rPr sz="1500">
                <a:solidFill>
                  <a:srgbClr val="334155"/>
                </a:solidFill>
                <a:latin typeface="Segoe UI"/>
              </a:rPr>
              <a:t> AST-Level Crypto Discovery + Mosca Threat Engine + Drop-in NIST FIPS 203/204 Remediation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3296" y="298704"/>
            <a:ext cx="2042160" cy="871728"/>
            <a:chOff x="0" y="0"/>
            <a:chExt cx="2722880" cy="11623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78440" y="298704"/>
            <a:ext cx="1167384" cy="1024128"/>
            <a:chOff x="0" y="0"/>
            <a:chExt cx="1556512" cy="13655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68610" y="1740725"/>
            <a:ext cx="11049951" cy="4512250"/>
            <a:chOff x="0" y="0"/>
            <a:chExt cx="21184197" cy="86505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84236" cy="8650532"/>
            </a:xfrm>
            <a:custGeom>
              <a:avLst/>
              <a:gdLst/>
              <a:ahLst/>
              <a:cxnLst/>
              <a:rect r="r" b="b" t="t" l="l"/>
              <a:pathLst>
                <a:path h="8650532" w="21184236">
                  <a:moveTo>
                    <a:pt x="0" y="0"/>
                  </a:moveTo>
                  <a:lnTo>
                    <a:pt x="21184236" y="0"/>
                  </a:lnTo>
                  <a:lnTo>
                    <a:pt x="21184236" y="8650532"/>
                  </a:lnTo>
                  <a:lnTo>
                    <a:pt x="0" y="8650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20" t="0" r="-32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413493" y="6402515"/>
            <a:ext cx="79896" cy="22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TT Milks Casual 900 Two"/>
                <a:ea typeface="TT Milks Casual 900 Two"/>
                <a:cs typeface="TT Milks Casual 900 Two"/>
                <a:sym typeface="TT Milks Casual 900 Two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42204" y="6412040"/>
            <a:ext cx="1651273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5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@TEKATHON-4.0- Template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6670" y="2569081"/>
            <a:ext cx="3277572" cy="378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523" indent="-165261" lvl="1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1">
                <a:solidFill>
                  <a:srgbClr val="0F172A"/>
                </a:solidFill>
                <a:latin typeface="Segoe UI"/>
              </a:rPr>
              <a:t>• Automated AST Scanning: </a:t>
            </a:r>
            <a:r>
              <a:rPr sz="1250">
                <a:solidFill>
                  <a:srgbClr val="334155"/>
                </a:solidFill>
                <a:latin typeface="Segoe UI"/>
              </a:rPr>
              <a:t>Scans multi-language source repositories to discover and catalogue cryptographic assets without regex errors.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CBOM Generation: </a:t>
            </a:r>
            <a:r>
              <a:rPr sz="1250">
                <a:solidFill>
                  <a:srgbClr val="334155"/>
                </a:solidFill>
                <a:latin typeface="Segoe UI"/>
              </a:rPr>
              <a:t>Compiles all algorithms, keys, and usages into CycloneDX Cryptographic Bill of Materials.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Quantum Risk Scoring: </a:t>
            </a:r>
            <a:r>
              <a:rPr sz="1250">
                <a:solidFill>
                  <a:srgbClr val="334155"/>
                </a:solidFill>
                <a:latin typeface="Segoe UI"/>
              </a:rPr>
              <a:t>Benchmarks primitives against Shor's and Grover's algorithms with automated CVSS scores.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Export-Ready Compliance: </a:t>
            </a:r>
            <a:r>
              <a:rPr sz="1250">
                <a:solidFill>
                  <a:srgbClr val="334155"/>
                </a:solidFill>
                <a:latin typeface="Segoe UI"/>
              </a:rPr>
              <a:t>Generates instant CycloneDX JSON and executive PDF audit reports.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25296" y="2464875"/>
            <a:ext cx="3084913" cy="357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7020" indent="-168510" lvl="1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1">
                <a:solidFill>
                  <a:srgbClr val="0F172A"/>
                </a:solidFill>
                <a:latin typeface="Segoe UI"/>
              </a:rPr>
              <a:t>• Eliminates Manual Review: </a:t>
            </a:r>
            <a:r>
              <a:rPr sz="1250">
                <a:solidFill>
                  <a:srgbClr val="334155"/>
                </a:solidFill>
                <a:latin typeface="Segoe UI"/>
              </a:rPr>
              <a:t>Replaces slow, error-prone manual audits with continuous automated CI/CD static scanning.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Detects Hidden Flaws: </a:t>
            </a:r>
            <a:r>
              <a:rPr sz="1250">
                <a:solidFill>
                  <a:srgbClr val="334155"/>
                </a:solidFill>
                <a:latin typeface="Segoe UI"/>
              </a:rPr>
              <a:t>Surfaces deprecated ciphers (MD5, SHA-1, DES, RSA-1024) buried deep in legacy dependency trees.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Mosca Risk Priority: </a:t>
            </a:r>
            <a:r>
              <a:rPr sz="1250">
                <a:solidFill>
                  <a:srgbClr val="334155"/>
                </a:solidFill>
                <a:latin typeface="Segoe UI"/>
              </a:rPr>
              <a:t>Calculates migration deadlines using shelf-life X + migration time Y vs quantum threshold Z.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Actionable Code Fixes: </a:t>
            </a:r>
            <a:r>
              <a:rPr sz="1250">
                <a:solidFill>
                  <a:srgbClr val="334155"/>
                </a:solidFill>
                <a:latin typeface="Segoe UI"/>
              </a:rPr>
              <a:t>Provides syntax-highlighted, drop-in replacement code for ML-KEM and ML-DSA.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50099" y="2569081"/>
            <a:ext cx="3356101" cy="351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682" indent="-164341" lvl="1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350" b="1">
                <a:solidFill>
                  <a:srgbClr val="0F172A"/>
                </a:solidFill>
                <a:latin typeface="Segoe UI"/>
              </a:rPr>
              <a:t>• True AST Parsing: </a:t>
            </a:r>
            <a:r>
              <a:rPr sz="1250">
                <a:solidFill>
                  <a:srgbClr val="334155"/>
                </a:solidFill>
                <a:latin typeface="Segoe UI"/>
              </a:rPr>
              <a:t>Abstract Syntax Tree inspection eliminates false positives that plague simple keyword matching.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Drop-in NIST Standards: </a:t>
            </a:r>
            <a:r>
              <a:rPr sz="1250">
                <a:solidFill>
                  <a:srgbClr val="334155"/>
                </a:solidFill>
                <a:latin typeface="Segoe UI"/>
              </a:rPr>
              <a:t>Direct synthesis of FIPS 203 (ML-KEM-768) and FIPS 204 (ML-DSA-65) code snippets.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Polyglot Coverage: </a:t>
            </a:r>
            <a:r>
              <a:rPr sz="1250">
                <a:solidFill>
                  <a:srgbClr val="334155"/>
                </a:solidFill>
                <a:latin typeface="Segoe UI"/>
              </a:rPr>
              <a:t>Inspects Python, Java, C/C++, and Go in a unified enterprise posture console.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• Audit Interoperability: </a:t>
            </a:r>
            <a:r>
              <a:rPr sz="1250">
                <a:solidFill>
                  <a:srgbClr val="334155"/>
                </a:solidFill>
                <a:latin typeface="Segoe UI"/>
              </a:rPr>
              <a:t>100% compliant with NIST PQC Guidelines and CycloneDX 1.6 specifications.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66376" y="222504"/>
            <a:ext cx="1845469" cy="71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6"/>
              </a:lnSpc>
            </a:pPr>
            <a:r>
              <a:rPr lang="en-US" sz="4183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ECD</a:t>
            </a:r>
            <a:r>
              <a:rPr lang="en-US" b="true" sz="4183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00981" y="853507"/>
            <a:ext cx="718521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Enterprise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Cryptographic Discovery &amp; Analysis Tool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63296" y="298704"/>
            <a:ext cx="2042160" cy="871728"/>
            <a:chOff x="0" y="0"/>
            <a:chExt cx="2722880" cy="11623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38816" y="146304"/>
            <a:ext cx="1167384" cy="1024128"/>
            <a:chOff x="0" y="0"/>
            <a:chExt cx="1556512" cy="1365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4829" y="5003991"/>
            <a:ext cx="8701968" cy="1351089"/>
            <a:chOff x="0" y="0"/>
            <a:chExt cx="13143597" cy="20407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5323" y="79684"/>
              <a:ext cx="13052952" cy="82372"/>
            </a:xfrm>
            <a:custGeom>
              <a:avLst/>
              <a:gdLst/>
              <a:ahLst/>
              <a:cxnLst/>
              <a:rect r="r" b="b" t="t" l="l"/>
              <a:pathLst>
                <a:path h="82372" w="13052952">
                  <a:moveTo>
                    <a:pt x="0" y="0"/>
                  </a:moveTo>
                  <a:lnTo>
                    <a:pt x="0" y="47431"/>
                  </a:lnTo>
                  <a:lnTo>
                    <a:pt x="13052952" y="82371"/>
                  </a:lnTo>
                  <a:lnTo>
                    <a:pt x="13052952" y="56126"/>
                  </a:lnTo>
                  <a:lnTo>
                    <a:pt x="13052952" y="34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5323" y="79051"/>
              <a:ext cx="13052952" cy="83004"/>
            </a:xfrm>
            <a:custGeom>
              <a:avLst/>
              <a:gdLst/>
              <a:ahLst/>
              <a:cxnLst/>
              <a:rect r="r" b="b" t="t" l="l"/>
              <a:pathLst>
                <a:path h="83004" w="13052952">
                  <a:moveTo>
                    <a:pt x="0" y="0"/>
                  </a:moveTo>
                  <a:lnTo>
                    <a:pt x="0" y="83004"/>
                  </a:lnTo>
                  <a:lnTo>
                    <a:pt x="13052952" y="83004"/>
                  </a:lnTo>
                  <a:lnTo>
                    <a:pt x="1305295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76348" y="304664"/>
              <a:ext cx="922771" cy="1600634"/>
            </a:xfrm>
            <a:custGeom>
              <a:avLst/>
              <a:gdLst/>
              <a:ahLst/>
              <a:cxnLst/>
              <a:rect r="r" b="b" t="t" l="l"/>
              <a:pathLst>
                <a:path h="1600634" w="922771">
                  <a:moveTo>
                    <a:pt x="0" y="1600634"/>
                  </a:moveTo>
                  <a:lnTo>
                    <a:pt x="922771" y="1600634"/>
                  </a:lnTo>
                  <a:lnTo>
                    <a:pt x="9227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014692" y="374704"/>
              <a:ext cx="804026" cy="1586879"/>
            </a:xfrm>
            <a:custGeom>
              <a:avLst/>
              <a:gdLst/>
              <a:ahLst/>
              <a:cxnLst/>
              <a:rect r="r" b="b" t="t" l="l"/>
              <a:pathLst>
                <a:path h="1586879" w="804026">
                  <a:moveTo>
                    <a:pt x="0" y="1586878"/>
                  </a:moveTo>
                  <a:lnTo>
                    <a:pt x="804026" y="1586878"/>
                  </a:lnTo>
                  <a:lnTo>
                    <a:pt x="8040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8697139" y="1554242"/>
            <a:ext cx="3333546" cy="4800838"/>
          </a:xfrm>
          <a:custGeom>
            <a:avLst/>
            <a:gdLst/>
            <a:ahLst/>
            <a:cxnLst/>
            <a:rect r="r" b="b" t="t" l="l"/>
            <a:pathLst>
              <a:path h="4800838" w="3333546">
                <a:moveTo>
                  <a:pt x="0" y="0"/>
                </a:moveTo>
                <a:lnTo>
                  <a:pt x="3333545" y="0"/>
                </a:lnTo>
                <a:lnTo>
                  <a:pt x="3333545" y="4800838"/>
                </a:lnTo>
                <a:lnTo>
                  <a:pt x="0" y="48008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133" t="0" r="-10910" b="-380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4754" y="5474666"/>
            <a:ext cx="8282801" cy="880414"/>
          </a:xfrm>
          <a:custGeom>
            <a:avLst/>
            <a:gdLst/>
            <a:ahLst/>
            <a:cxnLst/>
            <a:rect r="r" b="b" t="t" l="l"/>
            <a:pathLst>
              <a:path h="880414" w="8282801">
                <a:moveTo>
                  <a:pt x="0" y="0"/>
                </a:moveTo>
                <a:lnTo>
                  <a:pt x="8282801" y="0"/>
                </a:lnTo>
                <a:lnTo>
                  <a:pt x="8282801" y="880414"/>
                </a:lnTo>
                <a:lnTo>
                  <a:pt x="0" y="880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1169" r="0" b="-3919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7371" y="1270897"/>
            <a:ext cx="7650185" cy="3763821"/>
          </a:xfrm>
          <a:custGeom>
            <a:avLst/>
            <a:gdLst/>
            <a:ahLst/>
            <a:cxnLst/>
            <a:rect r="r" b="b" t="t" l="l"/>
            <a:pathLst>
              <a:path h="3763821" w="7650185">
                <a:moveTo>
                  <a:pt x="0" y="0"/>
                </a:moveTo>
                <a:lnTo>
                  <a:pt x="7650184" y="0"/>
                </a:lnTo>
                <a:lnTo>
                  <a:pt x="7650184" y="3763821"/>
                </a:lnTo>
                <a:lnTo>
                  <a:pt x="0" y="37638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360420" y="170145"/>
            <a:ext cx="5582126" cy="63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36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TECHNICAL APPROACH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13493" y="6402515"/>
            <a:ext cx="79896" cy="22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TT Milks Casual 900 Two"/>
                <a:ea typeface="TT Milks Casual 900 Two"/>
                <a:cs typeface="TT Milks Casual 900 Two"/>
                <a:sym typeface="TT Milks Casual 900 Two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42204" y="6412040"/>
            <a:ext cx="1651273" cy="25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5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@TTEEKKAATTHHOONN--34..00--TTeemmppllaattee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4754" y="5063293"/>
            <a:ext cx="2182654" cy="50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54161" y="1385925"/>
            <a:ext cx="1809750" cy="31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b="true" sz="199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Technical flow: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63296" y="204056"/>
            <a:ext cx="2042160" cy="871728"/>
            <a:chOff x="0" y="0"/>
            <a:chExt cx="2722880" cy="11623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55772" y="160230"/>
            <a:ext cx="1136278" cy="996839"/>
            <a:chOff x="0" y="0"/>
            <a:chExt cx="1556512" cy="1365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36338" y="1595218"/>
            <a:ext cx="2150832" cy="4087212"/>
            <a:chOff x="0" y="0"/>
            <a:chExt cx="1988934" cy="3779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947" cy="3779520"/>
            </a:xfrm>
            <a:custGeom>
              <a:avLst/>
              <a:gdLst/>
              <a:ahLst/>
              <a:cxnLst/>
              <a:rect r="r" b="b" t="t" l="l"/>
              <a:pathLst>
                <a:path h="3779520" w="1988947">
                  <a:moveTo>
                    <a:pt x="0" y="0"/>
                  </a:moveTo>
                  <a:lnTo>
                    <a:pt x="1988947" y="0"/>
                  </a:lnTo>
                  <a:lnTo>
                    <a:pt x="1988947" y="3779520"/>
                  </a:lnTo>
                  <a:lnTo>
                    <a:pt x="0" y="377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34000"/>
              </a:blip>
              <a:stretch>
                <a:fillRect l="0" t="-393" r="0" b="-39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39565" y="1435174"/>
            <a:ext cx="2328998" cy="4483354"/>
            <a:chOff x="0" y="0"/>
            <a:chExt cx="1972081" cy="37962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72056" cy="3796284"/>
            </a:xfrm>
            <a:custGeom>
              <a:avLst/>
              <a:gdLst/>
              <a:ahLst/>
              <a:cxnLst/>
              <a:rect r="r" b="b" t="t" l="l"/>
              <a:pathLst>
                <a:path h="3796284" w="1972056">
                  <a:moveTo>
                    <a:pt x="0" y="0"/>
                  </a:moveTo>
                  <a:lnTo>
                    <a:pt x="1972056" y="0"/>
                  </a:lnTo>
                  <a:lnTo>
                    <a:pt x="1972056" y="3796284"/>
                  </a:lnTo>
                  <a:lnTo>
                    <a:pt x="0" y="3796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40000"/>
              </a:blip>
              <a:stretch>
                <a:fillRect l="0" t="-393" r="-1" b="-39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21482" y="4984222"/>
            <a:ext cx="5035561" cy="653667"/>
            <a:chOff x="0" y="0"/>
            <a:chExt cx="2766921" cy="3591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66921" cy="359174"/>
            </a:xfrm>
            <a:custGeom>
              <a:avLst/>
              <a:gdLst/>
              <a:ahLst/>
              <a:cxnLst/>
              <a:rect r="r" b="b" t="t" l="l"/>
              <a:pathLst>
                <a:path h="359174" w="2766921">
                  <a:moveTo>
                    <a:pt x="127608" y="0"/>
                  </a:moveTo>
                  <a:lnTo>
                    <a:pt x="2639313" y="0"/>
                  </a:lnTo>
                  <a:cubicBezTo>
                    <a:pt x="2709789" y="0"/>
                    <a:pt x="2766921" y="57132"/>
                    <a:pt x="2766921" y="127608"/>
                  </a:cubicBezTo>
                  <a:lnTo>
                    <a:pt x="2766921" y="231566"/>
                  </a:lnTo>
                  <a:cubicBezTo>
                    <a:pt x="2766921" y="302042"/>
                    <a:pt x="2709789" y="359174"/>
                    <a:pt x="2639313" y="359174"/>
                  </a:cubicBezTo>
                  <a:lnTo>
                    <a:pt x="127608" y="359174"/>
                  </a:lnTo>
                  <a:cubicBezTo>
                    <a:pt x="57132" y="359174"/>
                    <a:pt x="0" y="302042"/>
                    <a:pt x="0" y="231566"/>
                  </a:cubicBezTo>
                  <a:lnTo>
                    <a:pt x="0" y="127608"/>
                  </a:lnTo>
                  <a:cubicBezTo>
                    <a:pt x="0" y="57132"/>
                    <a:pt x="57132" y="0"/>
                    <a:pt x="127608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766921" cy="349649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159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03545" y="4984222"/>
            <a:ext cx="653667" cy="65366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2591"/>
                </a:lnSpc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1274349" y="5225403"/>
            <a:ext cx="195777" cy="171305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21314" y="4984222"/>
            <a:ext cx="653667" cy="65366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  <a:r>
                <a:rPr lang="en-US" b="true" sz="1993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808400" y="5225403"/>
            <a:ext cx="195777" cy="171305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121482" y="2736905"/>
            <a:ext cx="5035561" cy="653667"/>
            <a:chOff x="0" y="0"/>
            <a:chExt cx="2766921" cy="3591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66921" cy="359174"/>
            </a:xfrm>
            <a:custGeom>
              <a:avLst/>
              <a:gdLst/>
              <a:ahLst/>
              <a:cxnLst/>
              <a:rect r="r" b="b" t="t" l="l"/>
              <a:pathLst>
                <a:path h="359174" w="2766921">
                  <a:moveTo>
                    <a:pt x="127608" y="0"/>
                  </a:moveTo>
                  <a:lnTo>
                    <a:pt x="2639313" y="0"/>
                  </a:lnTo>
                  <a:cubicBezTo>
                    <a:pt x="2709789" y="0"/>
                    <a:pt x="2766921" y="57132"/>
                    <a:pt x="2766921" y="127608"/>
                  </a:cubicBezTo>
                  <a:lnTo>
                    <a:pt x="2766921" y="231566"/>
                  </a:lnTo>
                  <a:cubicBezTo>
                    <a:pt x="2766921" y="302042"/>
                    <a:pt x="2709789" y="359174"/>
                    <a:pt x="2639313" y="359174"/>
                  </a:cubicBezTo>
                  <a:lnTo>
                    <a:pt x="127608" y="359174"/>
                  </a:lnTo>
                  <a:cubicBezTo>
                    <a:pt x="57132" y="359174"/>
                    <a:pt x="0" y="302042"/>
                    <a:pt x="0" y="231566"/>
                  </a:cubicBezTo>
                  <a:lnTo>
                    <a:pt x="0" y="127608"/>
                  </a:lnTo>
                  <a:cubicBezTo>
                    <a:pt x="0" y="57132"/>
                    <a:pt x="57132" y="0"/>
                    <a:pt x="127608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2766921" cy="349649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159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03545" y="2736905"/>
            <a:ext cx="653667" cy="65366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2591"/>
                </a:lnSpc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-5400000">
            <a:off x="11274349" y="2978086"/>
            <a:ext cx="195777" cy="171305"/>
            <a:chOff x="0" y="0"/>
            <a:chExt cx="812800" cy="711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121314" y="2736905"/>
            <a:ext cx="653667" cy="653667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2591"/>
                </a:lnSpc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5808400" y="2978086"/>
            <a:ext cx="195777" cy="171305"/>
            <a:chOff x="0" y="0"/>
            <a:chExt cx="812800" cy="711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121482" y="3486010"/>
            <a:ext cx="5035561" cy="653667"/>
            <a:chOff x="0" y="0"/>
            <a:chExt cx="2766921" cy="35917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66921" cy="359174"/>
            </a:xfrm>
            <a:custGeom>
              <a:avLst/>
              <a:gdLst/>
              <a:ahLst/>
              <a:cxnLst/>
              <a:rect r="r" b="b" t="t" l="l"/>
              <a:pathLst>
                <a:path h="359174" w="2766921">
                  <a:moveTo>
                    <a:pt x="127608" y="0"/>
                  </a:moveTo>
                  <a:lnTo>
                    <a:pt x="2639313" y="0"/>
                  </a:lnTo>
                  <a:cubicBezTo>
                    <a:pt x="2709789" y="0"/>
                    <a:pt x="2766921" y="57132"/>
                    <a:pt x="2766921" y="127608"/>
                  </a:cubicBezTo>
                  <a:lnTo>
                    <a:pt x="2766921" y="231566"/>
                  </a:lnTo>
                  <a:cubicBezTo>
                    <a:pt x="2766921" y="302042"/>
                    <a:pt x="2709789" y="359174"/>
                    <a:pt x="2639313" y="359174"/>
                  </a:cubicBezTo>
                  <a:lnTo>
                    <a:pt x="127608" y="359174"/>
                  </a:lnTo>
                  <a:cubicBezTo>
                    <a:pt x="57132" y="359174"/>
                    <a:pt x="0" y="302042"/>
                    <a:pt x="0" y="231566"/>
                  </a:cubicBezTo>
                  <a:lnTo>
                    <a:pt x="0" y="127608"/>
                  </a:lnTo>
                  <a:cubicBezTo>
                    <a:pt x="0" y="57132"/>
                    <a:pt x="57132" y="0"/>
                    <a:pt x="127608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2766921" cy="349649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1594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503545" y="3486010"/>
            <a:ext cx="653667" cy="653667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2591"/>
                </a:lnSpc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11274349" y="3727191"/>
            <a:ext cx="195777" cy="171305"/>
            <a:chOff x="0" y="0"/>
            <a:chExt cx="812800" cy="711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121314" y="3486010"/>
            <a:ext cx="653667" cy="653667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5400000">
            <a:off x="5808400" y="3727191"/>
            <a:ext cx="195777" cy="171305"/>
            <a:chOff x="0" y="0"/>
            <a:chExt cx="812800" cy="711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121482" y="4235116"/>
            <a:ext cx="5035561" cy="653667"/>
            <a:chOff x="0" y="0"/>
            <a:chExt cx="2766921" cy="35917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66921" cy="359174"/>
            </a:xfrm>
            <a:custGeom>
              <a:avLst/>
              <a:gdLst/>
              <a:ahLst/>
              <a:cxnLst/>
              <a:rect r="r" b="b" t="t" l="l"/>
              <a:pathLst>
                <a:path h="359174" w="2766921">
                  <a:moveTo>
                    <a:pt x="127608" y="0"/>
                  </a:moveTo>
                  <a:lnTo>
                    <a:pt x="2639313" y="0"/>
                  </a:lnTo>
                  <a:cubicBezTo>
                    <a:pt x="2709789" y="0"/>
                    <a:pt x="2766921" y="57132"/>
                    <a:pt x="2766921" y="127608"/>
                  </a:cubicBezTo>
                  <a:lnTo>
                    <a:pt x="2766921" y="231566"/>
                  </a:lnTo>
                  <a:cubicBezTo>
                    <a:pt x="2766921" y="302042"/>
                    <a:pt x="2709789" y="359174"/>
                    <a:pt x="2639313" y="359174"/>
                  </a:cubicBezTo>
                  <a:lnTo>
                    <a:pt x="127608" y="359174"/>
                  </a:lnTo>
                  <a:cubicBezTo>
                    <a:pt x="57132" y="359174"/>
                    <a:pt x="0" y="302042"/>
                    <a:pt x="0" y="231566"/>
                  </a:cubicBezTo>
                  <a:lnTo>
                    <a:pt x="0" y="127608"/>
                  </a:lnTo>
                  <a:cubicBezTo>
                    <a:pt x="0" y="57132"/>
                    <a:pt x="57132" y="0"/>
                    <a:pt x="127608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9525"/>
              <a:ext cx="2766921" cy="349649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1594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503545" y="4235116"/>
            <a:ext cx="653667" cy="653667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2591"/>
                </a:lnSpc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-5400000">
            <a:off x="11274349" y="4476297"/>
            <a:ext cx="195777" cy="171305"/>
            <a:chOff x="0" y="0"/>
            <a:chExt cx="812800" cy="711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121314" y="4235116"/>
            <a:ext cx="653667" cy="653667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  <a:r>
                <a:rPr lang="en-US" b="true" sz="199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5400000">
            <a:off x="5808400" y="4476297"/>
            <a:ext cx="195777" cy="171305"/>
            <a:chOff x="0" y="0"/>
            <a:chExt cx="812800" cy="711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 marL="0" indent="0" lvl="0">
                <a:lnSpc>
                  <a:spcPts val="25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51974" y="2521913"/>
            <a:ext cx="774577" cy="3330966"/>
            <a:chOff x="0" y="0"/>
            <a:chExt cx="425612" cy="183028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5612" cy="1830287"/>
            </a:xfrm>
            <a:custGeom>
              <a:avLst/>
              <a:gdLst/>
              <a:ahLst/>
              <a:cxnLst/>
              <a:rect r="r" b="b" t="t" l="l"/>
              <a:pathLst>
                <a:path h="1830287" w="425612">
                  <a:moveTo>
                    <a:pt x="0" y="0"/>
                  </a:moveTo>
                  <a:lnTo>
                    <a:pt x="425612" y="0"/>
                  </a:lnTo>
                  <a:lnTo>
                    <a:pt x="425612" y="1830287"/>
                  </a:lnTo>
                  <a:lnTo>
                    <a:pt x="0" y="18302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25612" cy="1849337"/>
            </a:xfrm>
            <a:prstGeom prst="rect">
              <a:avLst/>
            </a:prstGeom>
          </p:spPr>
          <p:txBody>
            <a:bodyPr anchor="ctr" rtlCol="false" tIns="42193" lIns="42193" bIns="42193" rIns="42193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284968" y="1472968"/>
            <a:ext cx="2220488" cy="4871649"/>
          </a:xfrm>
          <a:custGeom>
            <a:avLst/>
            <a:gdLst/>
            <a:ahLst/>
            <a:cxnLst/>
            <a:rect r="r" b="b" t="t" l="l"/>
            <a:pathLst>
              <a:path h="4871649" w="2220488">
                <a:moveTo>
                  <a:pt x="0" y="0"/>
                </a:moveTo>
                <a:lnTo>
                  <a:pt x="2220488" y="0"/>
                </a:lnTo>
                <a:lnTo>
                  <a:pt x="2220488" y="4871649"/>
                </a:lnTo>
                <a:lnTo>
                  <a:pt x="0" y="48716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2678880" y="1472968"/>
            <a:ext cx="1880459" cy="4775701"/>
          </a:xfrm>
          <a:custGeom>
            <a:avLst/>
            <a:gdLst/>
            <a:ahLst/>
            <a:cxnLst/>
            <a:rect r="r" b="b" t="t" l="l"/>
            <a:pathLst>
              <a:path h="4775701" w="1880459">
                <a:moveTo>
                  <a:pt x="0" y="0"/>
                </a:moveTo>
                <a:lnTo>
                  <a:pt x="1880459" y="0"/>
                </a:lnTo>
                <a:lnTo>
                  <a:pt x="1880459" y="4775700"/>
                </a:lnTo>
                <a:lnTo>
                  <a:pt x="0" y="4775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548" t="-1838" r="0" b="-1838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2956325" y="271333"/>
            <a:ext cx="6330315" cy="6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36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FEASIBILITY AND VIABILITY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413493" y="6402515"/>
            <a:ext cx="81458" cy="22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TT Milks Casual 900 Two"/>
                <a:ea typeface="TT Milks Casual 900 Two"/>
                <a:cs typeface="TT Milks Casual 900 Two"/>
                <a:sym typeface="TT Milks Casual 900 Two"/>
              </a:rPr>
              <a:t>4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442204" y="6412040"/>
            <a:ext cx="1651273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5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@TEKATHON-43.0-Template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287357" y="2815302"/>
            <a:ext cx="2040762" cy="71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  <a:defRPr sz="1250" b="0">
                <a:solidFill>
                  <a:srgbClr val="0F172A"/>
                </a:solidFill>
                <a:latin typeface="Segoe UI"/>
              </a:defRPr>
            </a:pPr>
            <a:r>
              <a:rPr sz="1250" b="0">
                <a:solidFill>
                  <a:srgbClr val="0F172A"/>
                </a:solidFill>
                <a:latin typeface="Segoe UI"/>
              </a:rPr>
              <a:t>Mixed &amp; legacy codebases</a:t>
            </a:r>
          </a:p>
          <a:p>
            <a:pPr algn="l">
              <a:lnSpc>
                <a:spcPts val="1856"/>
              </a:lnSpc>
              <a:spcBef>
                <a:spcPct val="0"/>
              </a:spcBef>
            </a:pPr>
          </a:p>
        </p:txBody>
      </p:sp>
      <p:sp>
        <p:nvSpPr>
          <p:cNvPr name="TextBox 85" id="85"/>
          <p:cNvSpPr txBox="true"/>
          <p:nvPr/>
        </p:nvSpPr>
        <p:spPr>
          <a:xfrm rot="0">
            <a:off x="8956031" y="2832696"/>
            <a:ext cx="192554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  <a:defRPr sz="1250" b="1">
                <a:solidFill>
                  <a:srgbClr val="4F46E5"/>
                </a:solidFill>
                <a:latin typeface="Segoe UI"/>
              </a:defRPr>
            </a:pPr>
            <a:r>
              <a:rPr sz="1250" b="1">
                <a:solidFill>
                  <a:srgbClr val="4F46E5"/>
                </a:solidFill>
                <a:latin typeface="Segoe UI"/>
              </a:rPr>
              <a:t>Polyglot AST parsing across Python, Java, C++ &amp; Go</a:t>
            </a:r>
          </a:p>
          <a:p>
            <a:pPr algn="r">
              <a:lnSpc>
                <a:spcPts val="1832"/>
              </a:lnSpc>
              <a:spcBef>
                <a:spcPct val="0"/>
              </a:spcBef>
            </a:pPr>
          </a:p>
        </p:txBody>
      </p:sp>
      <p:sp>
        <p:nvSpPr>
          <p:cNvPr name="TextBox 86" id="86"/>
          <p:cNvSpPr txBox="true"/>
          <p:nvPr/>
        </p:nvSpPr>
        <p:spPr>
          <a:xfrm rot="0">
            <a:off x="6284038" y="3684022"/>
            <a:ext cx="204076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  <a:defRPr sz="1250" b="0">
                <a:solidFill>
                  <a:srgbClr val="0F172A"/>
                </a:solidFill>
                <a:latin typeface="Segoe UI"/>
              </a:defRPr>
            </a:pPr>
            <a:r>
              <a:rPr sz="1250" b="0">
                <a:solidFill>
                  <a:srgbClr val="0F172A"/>
                </a:solidFill>
                <a:latin typeface="Segoe UI"/>
              </a:rPr>
              <a:t>Risk of false positive fatigue</a:t>
            </a:r>
          </a:p>
          <a:p>
            <a:pPr algn="l">
              <a:lnSpc>
                <a:spcPts val="1807"/>
              </a:lnSpc>
              <a:spcBef>
                <a:spcPct val="0"/>
              </a:spcBef>
            </a:pPr>
          </a:p>
        </p:txBody>
      </p:sp>
      <p:sp>
        <p:nvSpPr>
          <p:cNvPr name="TextBox 87" id="87"/>
          <p:cNvSpPr txBox="true"/>
          <p:nvPr/>
        </p:nvSpPr>
        <p:spPr>
          <a:xfrm rot="0">
            <a:off x="9050477" y="3591327"/>
            <a:ext cx="183110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  <a:defRPr sz="1250" b="1">
                <a:solidFill>
                  <a:srgbClr val="4F46E5"/>
                </a:solidFill>
                <a:latin typeface="Segoe UI"/>
              </a:defRPr>
            </a:pPr>
            <a:r>
              <a:rPr sz="1250" b="1">
                <a:solidFill>
                  <a:srgbClr val="4F46E5"/>
                </a:solidFill>
                <a:latin typeface="Segoe UI"/>
              </a:rPr>
              <a:t>AST semantic verification with verified call traces</a:t>
            </a:r>
          </a:p>
          <a:p>
            <a:pPr algn="r">
              <a:lnSpc>
                <a:spcPts val="1754"/>
              </a:lnSpc>
              <a:spcBef>
                <a:spcPct val="0"/>
              </a:spcBef>
            </a:pPr>
          </a:p>
        </p:txBody>
      </p:sp>
      <p:sp>
        <p:nvSpPr>
          <p:cNvPr name="TextBox 88" id="88"/>
          <p:cNvSpPr txBox="true"/>
          <p:nvPr/>
        </p:nvSpPr>
        <p:spPr>
          <a:xfrm rot="0">
            <a:off x="6338066" y="4375177"/>
            <a:ext cx="193270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  <a:defRPr sz="1250" b="0">
                <a:solidFill>
                  <a:srgbClr val="0F172A"/>
                </a:solidFill>
                <a:latin typeface="Segoe UI"/>
              </a:defRPr>
            </a:pPr>
            <a:r>
              <a:rPr sz="1250" b="0">
                <a:solidFill>
                  <a:srgbClr val="0F172A"/>
                </a:solidFill>
                <a:latin typeface="Segoe UI"/>
              </a:rPr>
              <a:t>Uncertain quantum CRQC timeline</a:t>
            </a:r>
          </a:p>
          <a:p>
            <a:pPr algn="l">
              <a:lnSpc>
                <a:spcPts val="1838"/>
              </a:lnSpc>
              <a:spcBef>
                <a:spcPct val="0"/>
              </a:spcBef>
            </a:pPr>
          </a:p>
        </p:txBody>
      </p:sp>
      <p:sp>
        <p:nvSpPr>
          <p:cNvPr name="TextBox 89" id="89"/>
          <p:cNvSpPr txBox="true"/>
          <p:nvPr/>
        </p:nvSpPr>
        <p:spPr>
          <a:xfrm rot="0">
            <a:off x="8704465" y="4330907"/>
            <a:ext cx="2177114" cy="68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  <a:defRPr sz="1250" b="1">
                <a:solidFill>
                  <a:srgbClr val="4F46E5"/>
                </a:solidFill>
                <a:latin typeface="Segoe UI"/>
              </a:defRPr>
            </a:pPr>
            <a:r>
              <a:rPr sz="1250" b="1">
                <a:solidFill>
                  <a:srgbClr val="4F46E5"/>
                </a:solidFill>
                <a:latin typeface="Segoe UI"/>
              </a:rPr>
              <a:t>Mosca's Inequality X+Y&gt;Z deadline modeling</a:t>
            </a:r>
          </a:p>
          <a:p>
            <a:pPr algn="r">
              <a:lnSpc>
                <a:spcPts val="1800"/>
              </a:lnSpc>
              <a:spcBef>
                <a:spcPct val="0"/>
              </a:spcBef>
            </a:pPr>
          </a:p>
        </p:txBody>
      </p:sp>
      <p:sp>
        <p:nvSpPr>
          <p:cNvPr name="TextBox 90" id="90"/>
          <p:cNvSpPr txBox="true"/>
          <p:nvPr/>
        </p:nvSpPr>
        <p:spPr>
          <a:xfrm rot="0">
            <a:off x="6340800" y="5051492"/>
            <a:ext cx="193387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  <a:defRPr sz="1250" b="0">
                <a:solidFill>
                  <a:srgbClr val="0F172A"/>
                </a:solidFill>
                <a:latin typeface="Segoe UI"/>
              </a:defRPr>
            </a:pPr>
            <a:r>
              <a:rPr sz="1250" b="0">
                <a:solidFill>
                  <a:srgbClr val="0F172A"/>
                </a:solidFill>
                <a:latin typeface="Segoe UI"/>
              </a:rPr>
              <a:t>Developer resistance to migration</a:t>
            </a:r>
          </a:p>
          <a:p>
            <a:pPr algn="l">
              <a:lnSpc>
                <a:spcPts val="1857"/>
              </a:lnSpc>
            </a:pPr>
          </a:p>
          <a:p>
            <a:pPr algn="l">
              <a:lnSpc>
                <a:spcPts val="1857"/>
              </a:lnSpc>
              <a:spcBef>
                <a:spcPct val="0"/>
              </a:spcBef>
            </a:pPr>
          </a:p>
        </p:txBody>
      </p:sp>
      <p:sp>
        <p:nvSpPr>
          <p:cNvPr name="TextBox 91" id="91"/>
          <p:cNvSpPr txBox="true"/>
          <p:nvPr/>
        </p:nvSpPr>
        <p:spPr>
          <a:xfrm rot="0">
            <a:off x="9026551" y="5041967"/>
            <a:ext cx="1855028" cy="77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18000"/>
              </a:lnSpc>
              <a:spcAft>
                <a:spcPts val="200"/>
              </a:spcAft>
              <a:defRPr sz="1250" b="1">
                <a:solidFill>
                  <a:srgbClr val="4F46E5"/>
                </a:solidFill>
                <a:latin typeface="Segoe UI"/>
              </a:defRPr>
            </a:pPr>
            <a:r>
              <a:rPr sz="1250" b="1">
                <a:solidFill>
                  <a:srgbClr val="4F46E5"/>
                </a:solidFill>
                <a:latin typeface="Segoe UI"/>
              </a:rPr>
              <a:t>1-Click drop-in code diffs + automated GitHub issues</a:t>
            </a:r>
          </a:p>
          <a:p>
            <a:pPr algn="r">
              <a:lnSpc>
                <a:spcPts val="1534"/>
              </a:lnSpc>
              <a:spcBef>
                <a:spcPct val="0"/>
              </a:spcBef>
            </a:pPr>
          </a:p>
        </p:txBody>
      </p:sp>
      <p:sp>
        <p:nvSpPr>
          <p:cNvPr name="TextBox 92" id="92"/>
          <p:cNvSpPr txBox="true"/>
          <p:nvPr/>
        </p:nvSpPr>
        <p:spPr>
          <a:xfrm rot="0">
            <a:off x="5668252" y="2150226"/>
            <a:ext cx="6072426" cy="3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2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CHALLENGES          VS        OUR APPROACH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80887" y="1151382"/>
            <a:ext cx="2649625" cy="31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b="true" sz="199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 APP  ECDAT UI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1245595"/>
            <a:ext cx="12187171" cy="5537168"/>
          </a:xfrm>
          <a:custGeom>
            <a:avLst/>
            <a:gdLst/>
            <a:ahLst/>
            <a:cxnLst/>
            <a:rect r="r" b="b" t="t" l="l"/>
            <a:pathLst>
              <a:path h="5537168" w="12187171">
                <a:moveTo>
                  <a:pt x="0" y="0"/>
                </a:moveTo>
                <a:lnTo>
                  <a:pt x="12187171" y="0"/>
                </a:lnTo>
                <a:lnTo>
                  <a:pt x="12187171" y="5537169"/>
                </a:lnTo>
                <a:lnTo>
                  <a:pt x="0" y="5537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0" t="-22091" r="0" b="-9966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63296" y="298704"/>
            <a:ext cx="2042160" cy="871728"/>
            <a:chOff x="0" y="0"/>
            <a:chExt cx="2722880" cy="11623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378440" y="298704"/>
            <a:ext cx="1167384" cy="1024128"/>
            <a:chOff x="0" y="0"/>
            <a:chExt cx="1556512" cy="1365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484376" y="1231514"/>
            <a:ext cx="422673" cy="422673"/>
          </a:xfrm>
          <a:custGeom>
            <a:avLst/>
            <a:gdLst/>
            <a:ahLst/>
            <a:cxnLst/>
            <a:rect r="r" b="b" t="t" l="l"/>
            <a:pathLst>
              <a:path h="422673" w="422673">
                <a:moveTo>
                  <a:pt x="0" y="0"/>
                </a:moveTo>
                <a:lnTo>
                  <a:pt x="422673" y="0"/>
                </a:lnTo>
                <a:lnTo>
                  <a:pt x="422673" y="422673"/>
                </a:lnTo>
                <a:lnTo>
                  <a:pt x="0" y="4226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47686" y="5411679"/>
            <a:ext cx="6912952" cy="838195"/>
          </a:xfrm>
          <a:custGeom>
            <a:avLst/>
            <a:gdLst/>
            <a:ahLst/>
            <a:cxnLst/>
            <a:rect r="r" b="b" t="t" l="l"/>
            <a:pathLst>
              <a:path h="838195" w="6912952">
                <a:moveTo>
                  <a:pt x="0" y="0"/>
                </a:moveTo>
                <a:lnTo>
                  <a:pt x="6912952" y="0"/>
                </a:lnTo>
                <a:lnTo>
                  <a:pt x="6912952" y="838195"/>
                </a:lnTo>
                <a:lnTo>
                  <a:pt x="0" y="838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30524" y="170145"/>
            <a:ext cx="5439327" cy="63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36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IMPACT AND BENEFITS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16541" y="6402515"/>
            <a:ext cx="79124" cy="22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TT Milks Casual 900 Two"/>
                <a:ea typeface="TT Milks Casual 900 Two"/>
                <a:cs typeface="TT Milks Casual 900 Two"/>
                <a:sym typeface="TT Milks Casual 900 Two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2204" y="6412040"/>
            <a:ext cx="1651273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5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@TEKATHON-43.0-Template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6818" y="1170231"/>
            <a:ext cx="1194554" cy="41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313" spc="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1398" y="1673237"/>
            <a:ext cx="3784044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🔐 Cryptographic Asset Visibility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1398" y="2058682"/>
            <a:ext cx="566879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Automated discovery establishes an authoritative, centralized inventory of all enterprise crypto assets.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380755" y="2533027"/>
            <a:ext cx="602970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🛡️ Proactive Quantum Risk Shield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1398" y="2870846"/>
            <a:ext cx="589416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Pinpoints asymmetric assets exposed to Harvest Now, Decrypt Later (HNDL) exploitation.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3296" y="3469424"/>
            <a:ext cx="3512463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📊 Risk-Based Migration Roadmaps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3296" y="3887250"/>
            <a:ext cx="589416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Prioritizes high-exposure modules using asset shelf-life, business criticality, and CVSS scores.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3296" y="4251740"/>
            <a:ext cx="4080272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🏢 Enterprise-Wide Compliance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3296" y="4685239"/>
            <a:ext cx="5802581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Unified visibility across microservices, cloud deployments, and mission-critical databases.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68410" y="1198919"/>
            <a:ext cx="1247214" cy="43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5"/>
              </a:lnSpc>
            </a:pPr>
            <a:r>
              <a:rPr lang="en-US" sz="248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51957" y="1653671"/>
            <a:ext cx="7870737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🧠 Automated Discovery Engine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83979" y="1962915"/>
            <a:ext cx="6044385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Reduces audit turnaround from weeks of manual code review to sub-minute automated scans.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66907" y="2484885"/>
            <a:ext cx="3733324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📋 CycloneDX CBOM Generation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85112" y="2832229"/>
            <a:ext cx="609600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Provides structured, machine-readable cryptographic bill of materials for regulatory audits.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83979" y="3036036"/>
            <a:ext cx="3877628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🚀 Drop-in NIST PQC Code</a:t>
            </a:r>
          </a:p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🚀 PQC Migration Recommendations</a:t>
            </a: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6266907" y="3703736"/>
            <a:ext cx="538956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Delivers actionable, copy-pasteable ML-KEM and ML-DSA implementations directly to developers.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35356" y="4145347"/>
            <a:ext cx="3713321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450" b="1">
                <a:solidFill>
                  <a:srgbClr val="0F172A"/>
                </a:solidFill>
                <a:latin typeface="Segoe UI"/>
              </a:defRPr>
            </a:pPr>
            <a:r>
              <a:rPr sz="1450" b="1">
                <a:solidFill>
                  <a:srgbClr val="0F172A"/>
                </a:solidFill>
                <a:latin typeface="Segoe UI"/>
              </a:rPr>
              <a:t>⚡ Accelerated Decision-Making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83979" y="4525425"/>
            <a:ext cx="5908021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Transforms complex cryptographic mathematics into clear executive risk scores and remediation SLAs.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6882140" y="1206959"/>
            <a:ext cx="422673" cy="422673"/>
          </a:xfrm>
          <a:custGeom>
            <a:avLst/>
            <a:gdLst/>
            <a:ahLst/>
            <a:cxnLst/>
            <a:rect r="r" b="b" t="t" l="l"/>
            <a:pathLst>
              <a:path h="422673" w="422673">
                <a:moveTo>
                  <a:pt x="0" y="0"/>
                </a:moveTo>
                <a:lnTo>
                  <a:pt x="422674" y="0"/>
                </a:lnTo>
                <a:lnTo>
                  <a:pt x="422674" y="422674"/>
                </a:lnTo>
                <a:lnTo>
                  <a:pt x="0" y="422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63296" y="298704"/>
            <a:ext cx="2042160" cy="871728"/>
            <a:chOff x="0" y="0"/>
            <a:chExt cx="2722880" cy="11623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78440" y="298704"/>
            <a:ext cx="1167384" cy="1024128"/>
            <a:chOff x="0" y="0"/>
            <a:chExt cx="1556512" cy="1365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779776" y="190490"/>
            <a:ext cx="7088896" cy="63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RESEARCH AND REFERENCES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10445" y="6402515"/>
            <a:ext cx="83629" cy="22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TT Milks Casual 900 Two"/>
                <a:ea typeface="TT Milks Casual 900 Two"/>
                <a:cs typeface="TT Milks Casual 900 Two"/>
                <a:sym typeface="TT Milks Casual 900 Two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42204" y="6412040"/>
            <a:ext cx="1651273" cy="21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5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@TEKATHON-43.0-Template</a:t>
            </a:r>
          </a:p>
        </p:txBody>
      </p:sp>
      <p:sp>
        <p:nvSpPr>
          <p:cNvPr name="AutoShape 15" id="15"/>
          <p:cNvSpPr/>
          <p:nvPr/>
        </p:nvSpPr>
        <p:spPr>
          <a:xfrm>
            <a:off x="3780723" y="3472742"/>
            <a:ext cx="11682773" cy="12642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88799" y="1382104"/>
            <a:ext cx="6967189" cy="366694"/>
            <a:chOff x="0" y="0"/>
            <a:chExt cx="1389888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585216"/>
                  </a:lnTo>
                  <a:cubicBezTo>
                    <a:pt x="13898880" y="665988"/>
                    <a:pt x="13833348" y="731520"/>
                    <a:pt x="137525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8799" y="1382104"/>
            <a:ext cx="6967189" cy="391295"/>
            <a:chOff x="0" y="0"/>
            <a:chExt cx="13898880" cy="7805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98880" cy="780597"/>
            </a:xfrm>
            <a:custGeom>
              <a:avLst/>
              <a:gdLst/>
              <a:ahLst/>
              <a:cxnLst/>
              <a:rect r="r" b="b" t="t" l="l"/>
              <a:pathLst>
                <a:path h="780597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80597"/>
                  </a:lnTo>
                  <a:lnTo>
                    <a:pt x="0" y="7805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0083" r="0" b="-29379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898880" cy="828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37"/>
                </a:lnSpc>
              </a:pPr>
              <a:r>
                <a:rPr lang="en-US" sz="194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85816" y="1781314"/>
            <a:ext cx="687551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692" indent="-210846" lvl="1">
              <a:lnSpc>
                <a:spcPct val="118000"/>
              </a:lnSpc>
              <a:spcAft>
                <a:spcPts val="300"/>
              </a:spcAft>
              <a:buAutoNum type="arabicPeriod" startAt="1"/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NIST — Post-Quantum Cryptography (PQC) Standards (2024)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39335" y="1645592"/>
            <a:ext cx="4400330" cy="2016818"/>
            <a:chOff x="0" y="0"/>
            <a:chExt cx="8778240" cy="4023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3877056"/>
                  </a:lnTo>
                  <a:cubicBezTo>
                    <a:pt x="8778240" y="3957828"/>
                    <a:pt x="8712708" y="4023360"/>
                    <a:pt x="8631936" y="4023360"/>
                  </a:cubicBezTo>
                  <a:lnTo>
                    <a:pt x="146304" y="4023360"/>
                  </a:lnTo>
                  <a:cubicBezTo>
                    <a:pt x="65532" y="4023360"/>
                    <a:pt x="0" y="3957828"/>
                    <a:pt x="0" y="387705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722682" y="1828939"/>
            <a:ext cx="4033636" cy="366694"/>
            <a:chOff x="0" y="0"/>
            <a:chExt cx="80467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0467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57"/>
                </a:lnSpc>
              </a:pPr>
              <a:r>
                <a:rPr lang="en-US" sz="1047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PROTOTYPE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722682" y="2287307"/>
            <a:ext cx="4033636" cy="641715"/>
            <a:chOff x="0" y="0"/>
            <a:chExt cx="804672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46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046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0"/>
                </a:lnSpc>
              </a:pPr>
              <a:r>
                <a:rPr lang="en-US" b="true" sz="1208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8" tooltip="https://sih-edcat.vercel.app"/>
                </a:rPr>
                <a:t>sih-edcat.vercel.app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22682" y="2929022"/>
            <a:ext cx="4033636" cy="641715"/>
            <a:chOff x="0" y="0"/>
            <a:chExt cx="804672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46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8046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15"/>
                </a:lnSpc>
              </a:pPr>
              <a:r>
                <a:rPr lang="en-US" sz="846">
                  <a:solidFill>
                    <a:srgbClr val="C9D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demo of the classification dashboard, GIS overlay and alert feed.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32969" y="3839391"/>
            <a:ext cx="4413062" cy="1525346"/>
            <a:chOff x="0" y="0"/>
            <a:chExt cx="8803640" cy="3042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03640" cy="3042920"/>
            </a:xfrm>
            <a:custGeom>
              <a:avLst/>
              <a:gdLst/>
              <a:ahLst/>
              <a:cxnLst/>
              <a:rect r="r" b="b" t="t" l="l"/>
              <a:pathLst>
                <a:path h="3042920" w="8803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656066" y="0"/>
                  </a:lnTo>
                  <a:cubicBezTo>
                    <a:pt x="8737600" y="0"/>
                    <a:pt x="8803640" y="66040"/>
                    <a:pt x="8803640" y="147574"/>
                  </a:cubicBezTo>
                  <a:lnTo>
                    <a:pt x="8803640" y="2895346"/>
                  </a:lnTo>
                  <a:cubicBezTo>
                    <a:pt x="8803640" y="2976880"/>
                    <a:pt x="8737600" y="3042920"/>
                    <a:pt x="8656066" y="3042920"/>
                  </a:cubicBezTo>
                  <a:lnTo>
                    <a:pt x="147574" y="3042920"/>
                  </a:lnTo>
                  <a:cubicBezTo>
                    <a:pt x="66040" y="3042920"/>
                    <a:pt x="0" y="2976880"/>
                    <a:pt x="0" y="2895346"/>
                  </a:cubicBezTo>
                  <a:close/>
                </a:path>
              </a:pathLst>
            </a:custGeom>
            <a:solidFill>
              <a:srgbClr val="F4F6FA"/>
            </a:solidFill>
            <a:ln w="9525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722682" y="4029104"/>
            <a:ext cx="4033636" cy="366694"/>
            <a:chOff x="0" y="0"/>
            <a:chExt cx="80467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046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60"/>
                </a:lnSpc>
              </a:pPr>
              <a:r>
                <a:rPr lang="en-US" sz="967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22682" y="4394525"/>
            <a:ext cx="4033636" cy="825062"/>
            <a:chOff x="0" y="0"/>
            <a:chExt cx="8046720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46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80467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63"/>
                </a:lnSpc>
              </a:pPr>
              <a:r>
                <a:rPr lang="en-US" sz="886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ID: SIH26162</a:t>
              </a:r>
            </a:p>
            <a:p>
              <a:pPr algn="l">
                <a:lnSpc>
                  <a:spcPts val="1063"/>
                </a:lnSpc>
              </a:pPr>
              <a:r>
                <a:rPr lang="en-US" sz="886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Theme: Disaster management 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463296" y="2114594"/>
            <a:ext cx="6875515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4" indent="-151132" lvl="1">
              <a:lnSpc>
                <a:spcPct val="118000"/>
              </a:lnSpc>
              <a:spcAft>
                <a:spcPts val="300"/>
              </a:spcAft>
              <a:buFont typeface="Arial"/>
              <a:buChar char="•"/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FIPS 203 (ML-KEM) — Module-Lattice-Based Key-Encapsulation Mechanism</a:t>
            </a:r>
          </a:p>
          <a:p>
            <a:pPr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FIPS 204 (ML-DSA) — Module-Lattice-Based Digital Signature Standard</a:t>
            </a:r>
          </a:p>
          <a:p>
            <a:pPr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FIPS 205 (SLH-DSA) — Stateless Hash-Based Digital Signature Standard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1396" y="4937181"/>
            <a:ext cx="687551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rPr sz="1400" b="1">
                <a:solidFill>
                  <a:srgbClr val="2563EB"/>
                </a:solidFill>
                <a:latin typeface="Segoe UI"/>
              </a:rPr>
              <a:t>Live Operational Prototype &amp; Open Source Repository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01396" y="2814722"/>
            <a:ext cx="687551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Mosca's Theorem — Quantum Migration Horizon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63296" y="5280081"/>
            <a:ext cx="612155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4" indent="-151132" lvl="1">
              <a:lnSpc>
                <a:spcPct val="118000"/>
              </a:lnSpc>
              <a:spcAft>
                <a:spcPts val="300"/>
              </a:spcAft>
              <a:buFont typeface="Arial"/>
              <a:buChar char="•"/>
              <a:defRPr sz="1250" b="0">
                <a:solidFill>
                  <a:srgbClr val="0F172A"/>
                </a:solidFill>
                <a:latin typeface="Segoe UI"/>
              </a:defRPr>
            </a:pPr>
            <a:r>
              <a:rPr sz="1250" b="0">
                <a:solidFill>
                  <a:srgbClr val="0F172A"/>
                </a:solidFill>
                <a:latin typeface="Segoe UI"/>
              </a:rPr>
              <a:t>• Live Working Platform: https://sih-edcat.vercel.app</a:t>
            </a:r>
          </a:p>
          <a:p>
            <a:pPr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0F172A"/>
                </a:solidFill>
                <a:latin typeface="Segoe UI"/>
              </a:defRPr>
            </a:pPr>
            <a:r>
              <a:rPr sz="1250" b="0">
                <a:solidFill>
                  <a:srgbClr val="0F172A"/>
                </a:solidFill>
                <a:latin typeface="Segoe UI"/>
              </a:rPr>
              <a:t>• GitHub Repository: https://github.com/PaliiiXRAY/sih-ecdat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01396" y="3569736"/>
            <a:ext cx="687551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Cryptography Bill of Materials (CBOM) Standard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63296" y="3884061"/>
            <a:ext cx="6443612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4" indent="-151132" lvl="1">
              <a:lnSpc>
                <a:spcPct val="118000"/>
              </a:lnSpc>
              <a:spcAft>
                <a:spcPts val="300"/>
              </a:spcAft>
              <a:buFont typeface="Arial"/>
              <a:buChar char="•"/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OWASP CycloneDX v1.6 CBOM Specification for cryptographic asset inventory</a:t>
            </a:r>
          </a:p>
          <a:p>
            <a:pPr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Standardized schema for cryptographic primitives, dependencies and key sizes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63296" y="4677176"/>
            <a:ext cx="54015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4" indent="-151132" lvl="1">
              <a:lnSpc>
                <a:spcPct val="118000"/>
              </a:lnSpc>
              <a:spcAft>
                <a:spcPts val="300"/>
              </a:spcAft>
              <a:buFont typeface="Arial"/>
              <a:buChar char="•"/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National Security Agency (NSA) &amp; CISA Post-Quantum Migration Directives</a:t>
            </a:r>
          </a:p>
          <a:p>
            <a:pPr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Immediate defense required for long-shelf-life sensitive data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3296" y="3129047"/>
            <a:ext cx="6443612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4" indent="-151132" lvl="1">
              <a:lnSpc>
                <a:spcPct val="118000"/>
              </a:lnSpc>
              <a:spcAft>
                <a:spcPts val="300"/>
              </a:spcAft>
              <a:buFont typeface="Arial"/>
              <a:buChar char="•"/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Michele Mosca: Cybersecurity in an Era with Quantum Computers (X + Y &gt; Z Equation)</a:t>
            </a:r>
          </a:p>
          <a:p>
            <a:pPr>
              <a:lnSpc>
                <a:spcPct val="118000"/>
              </a:lnSpc>
              <a:spcAft>
                <a:spcPts val="300"/>
              </a:spcAft>
              <a:defRPr sz="1250" b="0">
                <a:solidFill>
                  <a:srgbClr val="334155"/>
                </a:solidFill>
                <a:latin typeface="Segoe UI"/>
              </a:defRPr>
            </a:pPr>
            <a:r>
              <a:rPr sz="1250" b="0">
                <a:solidFill>
                  <a:srgbClr val="334155"/>
                </a:solidFill>
                <a:latin typeface="Segoe UI"/>
              </a:rPr>
              <a:t>• Establishes formal inequality for migration urgency vs shelf-life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1396" y="4334276"/>
            <a:ext cx="687551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sz="1400" b="1">
                <a:solidFill>
                  <a:srgbClr val="0F172A"/>
                </a:solidFill>
                <a:latin typeface="Segoe UI"/>
              </a:rPr>
              <a:t>Harvest Now, Decrypt Later (HNDL) Threat 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DAHUPIZXOGE</dc:identifier>
  <dcterms:modified xsi:type="dcterms:W3CDTF">2011-08-01T06:04:30Z</dcterms:modified>
  <cp:revision>1</cp:revision>
  <dc:title>TEKATHON 5.0 PPT Slide.pdf</dc:title>
</cp:coreProperties>
</file>