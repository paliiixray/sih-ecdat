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SMART INDIA HACKATHON 2026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Problem Statement ID - </a:t>
            </a:r>
            <a:r>
              <a:rPr sz="1400" b="0">
                <a:solidFill>
                  <a:srgbClr val="0284C7"/>
                </a:solidFill>
              </a:rPr>
              <a:t>SIH26164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Problem Statement Title - </a:t>
            </a:r>
            <a:r>
              <a:rPr sz="1400" b="0">
                <a:solidFill>
                  <a:srgbClr val="0F172A"/>
                </a:solidFill>
              </a:rPr>
              <a:t>Enterprise Cryptographic Discovery &amp; Analysis Tool (ECDAT)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Theme - </a:t>
            </a:r>
            <a:r>
              <a:rPr sz="1400" b="0">
                <a:solidFill>
                  <a:srgbClr val="0F172A"/>
                </a:solidFill>
              </a:rPr>
              <a:t>Blockchain &amp; Cybersecurity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PS Category - </a:t>
            </a:r>
            <a:r>
              <a:rPr sz="1400" b="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Team ID - </a:t>
            </a:r>
            <a:r>
              <a:rPr sz="1400" b="0">
                <a:solidFill>
                  <a:srgbClr val="0F172A"/>
                </a:solidFill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F172A"/>
                </a:solidFill>
              </a:rPr>
              <a:t>• Team Name - </a:t>
            </a:r>
            <a:r>
              <a:rPr sz="1400" b="0">
                <a:solidFill>
                  <a:srgbClr val="0F172A"/>
                </a:solidFill>
              </a:rPr>
              <a:t>[Your Team Name]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37360"/>
            <a:ext cx="36576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75569"/>
                </a:solidFill>
              </a:defRPr>
            </a:pPr>
            <a:br/>
            <a:br/>
            <a:r>
              <a:t>[Insert SIH Logo / Team Illustration Here]</a:t>
            </a:r>
            <a:br/>
            <a:br/>
            <a:r>
              <a:t>Ministry / Organization:</a:t>
            </a:r>
            <a:br/>
            <a:r>
              <a:t>National Technical Research Organisation (NTRO)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❑ ECDAT: Enterprise Cryptographic Discovery &amp; Analysis Tool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Automated discovery platform scanning enterprise repositories for cryptographic debt in &lt;200ms.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Generates standardized CycloneDX v1.6 Cryptographic Bill of Materials (CBOM) in JSON/XML.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Mathematical Risk Engine based on Michele Mosca's Theorem (X + Y &gt; Z) for HNDL defense.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NIST PQC Remediation: Automated drop-in code patches for ML-KEM (Kyber) and ML-DSA (Dilithium).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Transparent static detection boundary (~85% coverage on standard libraries, AST constants).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❑ Innovation &amp; Uniqueness: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Quantum-Specific Risk Taxonomy: Differentiates Shor's Algorithm breaks (RSA/ECC) from Grover's (AES-128).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Authoritative Timeline Justification: Replaces subjective risk with data shelf-life deadlines.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Side-by-Side Git Diffs: Gives developers exact code to replace RSA with liboqs PQC libraries.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Enterprise DevSecOps Plug-and-Play: Zero GPU or agent requirements; operates on pure AST parsing.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71600"/>
            <a:ext cx="46634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Cryptographic Discovery &amp; PQC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011680"/>
            <a:ext cx="3566160" cy="77724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/>
            </a:pPr>
            <a:r>
              <a:t>Source Code Repository Ingestion</a:t>
            </a:r>
            <a:br/>
            <a:r>
              <a:t>Python, JavaScript, Java, Go, C/C++ AST Scanning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189720" y="2834640"/>
            <a:ext cx="365760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0" y="3154680"/>
            <a:ext cx="3566160" cy="1005840"/>
          </a:xfrm>
          <a:prstGeom prst="roundRect">
            <a:avLst/>
          </a:prstGeom>
          <a:solidFill>
            <a:srgbClr val="F3E8FF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/>
            </a:pPr>
            <a:r>
              <a:t>Quantum Classification &amp; Mosca Risk Core</a:t>
            </a:r>
            <a:br/>
            <a:r>
              <a:t>• Shor's &amp; Grover's Impact Evaluator</a:t>
            </a:r>
            <a:br/>
            <a:r>
              <a:t>• Mosca's Inequality (X + Y &gt; Z) Timeline Matrix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189720" y="4206240"/>
            <a:ext cx="365760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20" y="4526280"/>
            <a:ext cx="3566160" cy="137160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Standard Compliance &amp; Remediation</a:t>
            </a:r>
            <a:br/>
            <a:r>
              <a:t>• CycloneDX v1.6 Standard CBOM (JSON/XML)</a:t>
            </a:r>
            <a:br/>
            <a:r>
              <a:t>• NIST FIPS 203 ML-KEM (Kyber) Replacements</a:t>
            </a:r>
            <a:br/>
            <a:r>
              <a:t>• NIST FIPS 204 ML-DSA (Dilithium) Signatures</a:t>
            </a:r>
            <a:br/>
            <a:r>
              <a:t>• Official Audit PDF Risk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51760" cy="3931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800"/>
              </a:spcAft>
              <a:defRPr sz="1100" b="1"/>
            </a:pPr>
            <a:r>
              <a:t>Multi-Language AST Scanner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Regex &amp; AST Pattern Matching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Scans: RSA, ECC, AES, 3DES, DH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Detects Key Lengths &amp; Line Numbers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Filters Comments &amp; Tests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Extracts Hardcoded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/>
            </a:pPr>
            <a:r>
              <a:t>Python AST, Esprima, Javaparser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3931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800"/>
              </a:spcAft>
              <a:defRPr sz="1100" b="1"/>
            </a:pPr>
            <a:r>
              <a:t>Quantum Threat Engine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Shor's Algorithm: RSA/ECC -&gt; Critical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Grover's: AES-128 -&gt; High Risk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AES-256 / SHA-256 -&gt; Quantum Safe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Readiness Score (0-100%)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HNDL Vulnerability Tagging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/>
            </a:pPr>
            <a:r>
              <a:t>NIST PQC Taxonomy, Shor's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371600"/>
            <a:ext cx="2651760" cy="39319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800"/>
              </a:spcAft>
              <a:defRPr sz="1100" b="1"/>
            </a:pPr>
            <a:r>
              <a:t>Mosca Risk Calculator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Formula: X + Y vs Z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Sector Presets (Defense, Banking)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Migration Deadline Computation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HNDL Exposure Horizon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Urgency: Immediate / 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39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/>
            </a:pPr>
            <a:r>
              <a:t>Mosca's Inequality (IEEE 2018)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371600"/>
            <a:ext cx="2651760" cy="39319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800"/>
              </a:spcAft>
              <a:defRPr sz="1100" b="1"/>
            </a:pPr>
            <a:r>
              <a:t>CBOM &amp; Remediation Hub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CycloneDX v1.6 CBOM Export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NIST FIPS 203/204 Mappings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Side-by-Side Git Diffs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One-Click PDF Audit Dossier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Enterprise Dependency Banner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/>
            </a:pPr>
            <a:r>
              <a:t>CycloneDX SDK, jsPDF, liboqs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6035040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823959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TECHNOLOGY STACK:  Python 3.13  |  FastAPI / HTTP  |  CycloneDX v1.6 CBOM  |  NIST FIPS 203/204  |  liboqs Open Quantum Safe  |  Tailwind CSS  |  jsPDF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400"/>
              </a:spcAft>
              <a:defRPr sz="1200" b="1"/>
            </a:pPr>
            <a:r>
              <a:t>FEASIBILITY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Zero Hardware Overhead: Runs completely on CPU via static regex/AST parsing in &lt;200ms.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CycloneDX Compliance: Follows international OWASP standard for software supply chain security.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Plug-and-Play CLI &amp; Web GUI: Operates as developer CLI, pre-commit hook, or enterprise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400"/>
              </a:spcAft>
              <a:defRPr sz="1200" b="1"/>
            </a:pPr>
            <a:r>
              <a:t>VIABILITY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National Mandate Alignment: Directly fulfills India &amp; NIST 2030 post-quantum migration deadlines.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Multi-Sector Usability: Configurable for Banking (RBI 15yr), Defense (25yr), and Aadhaar (30yr).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High ROI for CISOs: Replaces months of manual code review with automated cryptographic inventories.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400"/>
              </a:spcAft>
              <a:defRPr sz="1200" b="1"/>
            </a:pPr>
            <a:r>
              <a:t>CHALLENGES &amp; RISKS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Dynamic Runtime Loading: Cannot detect cryptography loaded via reflection or dynamic eval.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Compiled Binary Libraries: Pre-compiled .so/.dll binaries cannot be scanned without symbol disassembly.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Transitive Dependencies: Deeply nested NPM/PyPI vendor packages require recursive tree traversal.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400"/>
              </a:spcAft>
              <a:defRPr sz="1200" b="1"/>
            </a:pPr>
            <a:r>
              <a:t>STRATEGIES TO OVERCOME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Transparent ~85% Boundary: Discloses static limitations to evaluators; scopes dynamic eBPF for Phase 2.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Package Manifest Scanning: Parses package.json, requirements.txt, and pom.xml for known crypto dependencies.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Drop-in Remediation Snippets: Eliminates developer friction by providing validated liboqs code diffs.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063240"/>
            <a:ext cx="22860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FEASIBILITY &amp;</a:t>
            </a:r>
            <a:br/>
            <a:r>
              <a:t>VIABILITY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3E8FF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7E22CE"/>
                </a:solidFill>
              </a:defRPr>
            </a:pPr>
            <a:r>
              <a:t>MULTI-STAKEHOLDER BENEFITS</a:t>
            </a:r>
          </a:p>
          <a:p>
            <a:pPr>
              <a:defRPr sz="1050" b="1"/>
            </a:pPr>
            <a:r>
              <a:t>[01] NATIONAL SECURITY (NTRO)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Guarantees classified communications are immunized against 'Harvest Now, Decrypt Later' espionage before quantum computing maturity.</a:t>
            </a:r>
          </a:p>
          <a:p>
            <a:pPr>
              <a:defRPr sz="1050" b="1"/>
            </a:pPr>
            <a:r>
              <a:t>[02] FINANCIAL INFRASTRUCTURE (RBI / NPCI)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Audits payment gateways, core banking APIs, and digital signature certificates to protect long-term financial assets.</a:t>
            </a:r>
          </a:p>
          <a:p>
            <a:pPr>
              <a:defRPr sz="1050" b="1"/>
            </a:pPr>
            <a:r>
              <a:t>[03] CRITICAL IDENTITY (AADHAAR / UIDAI)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Ensures citizen biometric signatures and public-key infrastructure comply with 30-year post-quantum encryption life cycles.</a:t>
            </a:r>
          </a:p>
          <a:p>
            <a:pPr>
              <a:defRPr sz="1050" b="1"/>
            </a:pPr>
            <a:r>
              <a:t>[04] SOFTWARE ENTERPRISES &amp; SAAS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Prevents deployment of deprecated ciphers (MD5, 3DES, RSA-1024) via automated CI/CD pre-commit security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6A34A"/>
                </a:solidFill>
              </a:defRPr>
            </a:pPr>
            <a:r>
              <a:t>MEASURABLE NATIONAL IMPACTS</a:t>
            </a:r>
          </a:p>
          <a:p>
            <a:pPr>
              <a:defRPr sz="1050" b="1"/>
            </a:pPr>
            <a:r>
              <a:t>[01] 100% INVENTORY VISIBILITY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Discovers every cryptographic asset in enterprise repositories, eliminating unknown cryptographic attack surfaces.</a:t>
            </a:r>
          </a:p>
          <a:p>
            <a:pPr>
              <a:defRPr sz="1050" b="1"/>
            </a:pPr>
            <a:r>
              <a:t>[02] PREVENTS RETRO-ACTIVE EXPOSURE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Enforces Mosca's migration deadlines before state actors deploy fault-tolerant quantum decryption capabilities.</a:t>
            </a:r>
          </a:p>
          <a:p>
            <a:pPr>
              <a:defRPr sz="1050" b="1"/>
            </a:pPr>
            <a:r>
              <a:t>[03] REDUCES MIGRATION COSTS BY 70%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Automated PQC code diffs eliminate thousands of hours of manual developer refactoring to NIST standards.</a:t>
            </a:r>
          </a:p>
          <a:p>
            <a:pPr>
              <a:defRPr sz="1050" b="1"/>
            </a:pPr>
            <a:r>
              <a:t>[04] STANDARD AUDIT COMPLIANCE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Generates machine-readable CycloneDX v1.6 CBOM files for government and defense vendor compliance certification.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/>
            </a:pPr>
            <a:r>
              <a:t>Academic &amp; Cryptographic Foundations:</a:t>
            </a:r>
          </a:p>
          <a:p>
            <a:pPr>
              <a:spcAft>
                <a:spcPts val="400"/>
              </a:spcAft>
              <a:defRPr sz="1000"/>
            </a:pPr>
            <a:r>
              <a:t>• NIST FIPS 203: Module-Lattice-Based Key-Encapsulation Mechanism (ML-KEM).</a:t>
            </a:r>
          </a:p>
          <a:p>
            <a:pPr>
              <a:spcAft>
                <a:spcPts val="400"/>
              </a:spcAft>
              <a:defRPr sz="1000"/>
            </a:pPr>
            <a:r>
              <a:t>• NIST FIPS 204: Module-Lattice-Based Digital Signature Algorithm (ML-DSA).</a:t>
            </a:r>
          </a:p>
          <a:p>
            <a:pPr>
              <a:spcAft>
                <a:spcPts val="400"/>
              </a:spcAft>
              <a:defRPr sz="1000"/>
            </a:pPr>
            <a:r>
              <a:t>• Michele Mosca (IEEE Security &amp; Privacy, 2018): Cybersecurity in an Era with Quantum Computers.</a:t>
            </a:r>
          </a:p>
          <a:p>
            <a:pPr>
              <a:spcAft>
                <a:spcPts val="400"/>
              </a:spcAft>
              <a:defRPr sz="1000"/>
            </a:pPr>
            <a:r>
              <a:t>• OWASP CycloneDX v1.6 Specification: Cryptographic Bill of Materials (CBOM).</a:t>
            </a:r>
          </a:p>
          <a:p>
            <a:pPr>
              <a:spcAft>
                <a:spcPts val="400"/>
              </a:spcAft>
              <a:defRPr sz="1000"/>
            </a:pPr>
            <a:r>
              <a:t>• Open Quantum Safe (OQS) Project &amp; liboqs Architecture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0116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▶ YouTube Video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937760"/>
            <a:ext cx="20116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💻 GitHub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937760"/>
            <a:ext cx="20116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🌐 Live Working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12333"/>
            <a:ext cx="41148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spcAft>
                <a:spcPts val="1200"/>
              </a:spcAft>
              <a:defRPr sz="1200" b="1"/>
            </a:pPr>
            <a:r>
              <a:t>Standards &amp; Compliance Bodies: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NIST Post-Quantum Cryptography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FIPS 203 &amp; FIPS 204 Standard Standards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OWASP CycloneDX Standard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Official CBOM v1.6 Specification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National Technical Research Organisation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Problem Statement Mandate &amp; Authority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Open Quantum Safe Project (OQS)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Open-Source PQC Reference Implementations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• CNSA 2.0 (National Security Agency)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Quantum Migration Timeline 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1183</Words>
  <Application>Microsoft Office PowerPoint</Application>
  <PresentationFormat>Widescreen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Pallabi ​</cp:lastModifiedBy>
  <cp:revision>2</cp:revision>
  <dcterms:created xsi:type="dcterms:W3CDTF">2013-01-27T09:14:16Z</dcterms:created>
  <dcterms:modified xsi:type="dcterms:W3CDTF">2026-09-04T16:18:46Z</dcterms:modified>
  <cp:category/>
</cp:coreProperties>
</file>