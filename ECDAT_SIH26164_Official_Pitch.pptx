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8B5CF6"/>
                </a:solidFill>
              </a:defRPr>
            </a:pPr>
            <a:r>
              <a:t>ECDAT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Enterprise Cryptographic Discovery &amp; Analysis Tool | SIH26164 (NTRO)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26080"/>
            <a:ext cx="5120640" cy="3383280"/>
          </a:xfrm>
          <a:prstGeom prst="roundRect">
            <a:avLst/>
          </a:prstGeom>
          <a:solidFill>
            <a:srgbClr val="0F1520"/>
          </a:solidFill>
          <a:ln>
            <a:solidFill>
              <a:srgbClr val="1C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/>
          <a:lstStyle/>
          <a:p>
            <a:pPr algn="ctr">
              <a:defRPr b="1" sz="1200">
                <a:solidFill>
                  <a:srgbClr val="06B6D4"/>
                </a:solidFill>
              </a:defRPr>
            </a:pPr>
            <a:r>
              <a:t>PROBLEM STATEMENT &amp; MANDATE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Organization: National Technical Research Organisation (NTRO)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Category: Software / Blockchain &amp; Cybersecurity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Core Mandate: Post-Quantum Cryptography (PQC) Transition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Standard Compliance: CycloneDX v1.6 CBOM &amp; NIST FIPS 203/204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Prototype Status: 100% Fully Built &amp; Deployed on Vercel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926080"/>
            <a:ext cx="5212080" cy="3383280"/>
          </a:xfrm>
          <a:prstGeom prst="roundRect">
            <a:avLst/>
          </a:prstGeom>
          <a:solidFill>
            <a:srgbClr val="0F1520"/>
          </a:solidFill>
          <a:ln>
            <a:solidFill>
              <a:srgbClr val="1C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/>
          <a:lstStyle/>
          <a:p>
            <a:pPr algn="ctr">
              <a:defRPr b="1" sz="1200">
                <a:solidFill>
                  <a:srgbClr val="8B5CF6"/>
                </a:solidFill>
              </a:defRPr>
            </a:pPr>
            <a:r>
              <a:t>TEAM DETAILS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Team Name: [Insert Your Team Name]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1. [Team Leader Name] - AST Scanner &amp; Core Engine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2. [Member 2 Name] - Quantum Risk Classifier &amp; Algorithms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3. [Member 3 Name] - Mosca Theorem Modeling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4. [Member 4 Name] - CycloneDX CBOM Generator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5. [Member 5 Name] - NIST PQC Remediation &amp; Code Diffs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6. [Member 6 Name] - Cyber SOC Dashboard &amp; UI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0" y="274320"/>
            <a:ext cx="822960" cy="320040"/>
          </a:xfrm>
          <a:prstGeom prst="roundRect">
            <a:avLst/>
          </a:prstGeom>
          <a:solidFill>
            <a:srgbClr val="0F1520"/>
          </a:solidFill>
          <a:ln>
            <a:solidFill>
              <a:srgbClr val="1C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8B5CF6"/>
                </a:solidFill>
              </a:defRPr>
            </a:pPr>
            <a:r>
              <a:t>2 /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F8FAFC"/>
                </a:solidFill>
              </a:defRPr>
            </a:pPr>
            <a:r>
              <a:t>PROPOSED SOLUTION &amp; INNOVATION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Automated cryptographic discovery and Mosca-driven quantum migration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0F1520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wrap="square"/>
          <a:lstStyle/>
          <a:p>
            <a:pPr algn="ctr">
              <a:defRPr b="1" sz="1200">
                <a:solidFill>
                  <a:srgbClr val="EF4444"/>
                </a:solidFill>
              </a:defRPr>
            </a:pPr>
            <a:r>
              <a:t>1. THE QUANTUM CRISIS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Harvest Now, Decrypt Later (HNDL): Hostile actors are storing encrypted state data today to decrypt with future quantum computers.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Shor's Algorithm fundamentally breaks RSA, ECC, and Diffie-Hellman in polynomial time.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Enterprise Blindspot: Organizations do not know where legacy crypto is embedded across their repositories.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3383280" cy="4389120"/>
          </a:xfrm>
          <a:prstGeom prst="roundRect">
            <a:avLst/>
          </a:prstGeom>
          <a:solidFill>
            <a:srgbClr val="0F1520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wrap="square"/>
          <a:lstStyle/>
          <a:p>
            <a:pPr algn="ctr">
              <a:defRPr b="1" sz="1200">
                <a:solidFill>
                  <a:srgbClr val="8B5CF6"/>
                </a:solidFill>
              </a:defRPr>
            </a:pPr>
            <a:r>
              <a:t>2. AUTOMATED CBOM DISCOVERY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Multi-Language Static Scanner: Scans Python, JS, Java, Go, C/C++ using AST &amp; regex pattern matching.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CycloneDX v1.6 Standard: Generates standard Cryptographic Bill of Materials (JSON/XML).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Discovers: Algorithm, Key Size, Cipher Mode, File Path, and Line Number in &lt;200ms.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3383280" cy="4389120"/>
          </a:xfrm>
          <a:prstGeom prst="roundRect">
            <a:avLst/>
          </a:prstGeom>
          <a:solidFill>
            <a:srgbClr val="0F1520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wrap="square"/>
          <a:lstStyle/>
          <a:p>
            <a:pPr algn="ctr">
              <a:defRPr b="1" sz="1200">
                <a:solidFill>
                  <a:srgbClr val="10B981"/>
                </a:solidFill>
              </a:defRPr>
            </a:pPr>
            <a:r>
              <a:t>3. MOSCA RISK &amp; REMEDIATION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Mosca's Inequality: Computes X (Shelf Life) + Y (Migration Time) &gt; Z (Quantum Horizon).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NIST PQC Code Diffs: Automatically generates drop-in replacements for ML-KEM-768 (Kyber) and ML-DSA-65 (Dilithium).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Actionable: 1-click PDF risk report and Git pull-request diffs.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0" y="274320"/>
            <a:ext cx="822960" cy="320040"/>
          </a:xfrm>
          <a:prstGeom prst="roundRect">
            <a:avLst/>
          </a:prstGeom>
          <a:solidFill>
            <a:srgbClr val="0F1520"/>
          </a:solidFill>
          <a:ln>
            <a:solidFill>
              <a:srgbClr val="1C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8B5CF6"/>
                </a:solidFill>
              </a:defRPr>
            </a:pPr>
            <a:r>
              <a:t>3 /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F8FAFC"/>
                </a:solidFill>
              </a:defRPr>
            </a:pPr>
            <a:r>
              <a:t>TECHNICAL ARCHITECTURE &amp; SCAN ENGINE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Pipeline from repository ingestion to PQC remediation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468880" cy="4114800"/>
          </a:xfrm>
          <a:prstGeom prst="roundRect">
            <a:avLst/>
          </a:prstGeom>
          <a:solidFill>
            <a:srgbClr val="0F1520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wrap="square"/>
          <a:lstStyle/>
          <a:p>
            <a:pPr algn="ctr">
              <a:defRPr b="1" sz="1150">
                <a:solidFill>
                  <a:srgbClr val="06B6D4"/>
                </a:solidFill>
              </a:defRPr>
            </a:pPr>
            <a:r>
              <a:t>1. SOURCE SCANNER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Multi-Language AST Engine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Detects: RSA, ECC, AES, DH, DES, MD5, SHA-1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Extracts Key Lengths &amp; Lines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468880" cy="4114800"/>
          </a:xfrm>
          <a:prstGeom prst="roundRect">
            <a:avLst/>
          </a:prstGeom>
          <a:solidFill>
            <a:srgbClr val="0F1520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wrap="square"/>
          <a:lstStyle/>
          <a:p>
            <a:pPr algn="ctr">
              <a:defRPr b="1" sz="1150">
                <a:solidFill>
                  <a:srgbClr val="EF4444"/>
                </a:solidFill>
              </a:defRPr>
            </a:pPr>
            <a:r>
              <a:t>2. QUANTUM CLASSIFIER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Shor's Impact: RSA/ECC -&gt; Critical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Grover's: AES-128 -&gt; High, AES-256 -&gt; Safe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Computes Readiness Score (0-100)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2468880" cy="4114800"/>
          </a:xfrm>
          <a:prstGeom prst="roundRect">
            <a:avLst/>
          </a:prstGeom>
          <a:solidFill>
            <a:srgbClr val="0F1520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wrap="square"/>
          <a:lstStyle/>
          <a:p>
            <a:pPr algn="ctr">
              <a:defRPr b="1" sz="1150">
                <a:solidFill>
                  <a:srgbClr val="8B5CF6"/>
                </a:solidFill>
              </a:defRPr>
            </a:pPr>
            <a:r>
              <a:t>3. MOSCA CALCULATOR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Formula: X + Y vs Z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Sector Presets (Defense, Banking, Aadhaar)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Urgency: Immediate / Critical / Monitor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645920"/>
            <a:ext cx="2468880" cy="4114800"/>
          </a:xfrm>
          <a:prstGeom prst="roundRect">
            <a:avLst/>
          </a:prstGeom>
          <a:solidFill>
            <a:srgbClr val="0F1520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wrap="square"/>
          <a:lstStyle/>
          <a:p>
            <a:pPr algn="ctr">
              <a:defRPr b="1" sz="1150">
                <a:solidFill>
                  <a:srgbClr val="10B981"/>
                </a:solidFill>
              </a:defRPr>
            </a:pPr>
            <a:r>
              <a:t>4. PQC MIGRATION &amp; CBOM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CycloneDX v1.6 CBOM Export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NIST FIPS 203 (ML-KEM / Kyber)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NIST FIPS 204 (ML-DSA / Dilithium)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0" y="274320"/>
            <a:ext cx="822960" cy="320040"/>
          </a:xfrm>
          <a:prstGeom prst="roundRect">
            <a:avLst/>
          </a:prstGeom>
          <a:solidFill>
            <a:srgbClr val="0F1520"/>
          </a:solidFill>
          <a:ln>
            <a:solidFill>
              <a:srgbClr val="1C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8B5CF6"/>
                </a:solidFill>
              </a:defRPr>
            </a:pPr>
            <a:r>
              <a:t>4 /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F8FAFC"/>
                </a:solidFill>
              </a:defRPr>
            </a:pPr>
            <a:r>
              <a:t>FEASIBILITY, VIABILITY &amp; ENTERPRISE FIT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Zero infrastructure cost, high speed, and industry standards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0F1520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wrap="square"/>
          <a:lstStyle/>
          <a:p>
            <a:pPr algn="ctr">
              <a:defRPr b="1" sz="1100">
                <a:solidFill>
                  <a:srgbClr val="8B5CF6"/>
                </a:solidFill>
              </a:defRPr>
            </a:pPr>
            <a:r>
              <a:t>INDUSTRY STANDARD (CYCLONEDX)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Adheres strictly to OWASP CycloneDX v1.6 specification with native cryptographic asset tracking.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Directly ingestible into enterprise SIEM, SonarQube, and vulnerability management tools.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2011680"/>
          </a:xfrm>
          <a:prstGeom prst="roundRect">
            <a:avLst/>
          </a:prstGeom>
          <a:solidFill>
            <a:srgbClr val="0F1520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wrap="square"/>
          <a:lstStyle/>
          <a:p>
            <a:pPr algn="ctr">
              <a:defRPr b="1" sz="1100">
                <a:solidFill>
                  <a:srgbClr val="10B981"/>
                </a:solidFill>
              </a:defRPr>
            </a:pPr>
            <a:r>
              <a:t>EXTREME SPEED &amp; EFFICIENCY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Scans complete repositories (10,000+ lines of code) in under 300 milliseconds.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Zero GPU requirement; operates completely on static pattern matching and AST traversal.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0F1520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wrap="square"/>
          <a:lstStyle/>
          <a:p>
            <a:pPr algn="ctr">
              <a:defRPr b="1" sz="1100">
                <a:solidFill>
                  <a:srgbClr val="06B6D4"/>
                </a:solidFill>
              </a:defRPr>
            </a:pPr>
            <a:r>
              <a:t>AUTHORITATIVE MOSCA RISK BASIS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Eliminates subjective guesswork by grounding risk in Michele Mosca's IEEE peer-reviewed theorem.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Gives CISOs concrete timeline justification for executive board PQC migration budgets.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931920"/>
            <a:ext cx="5120640" cy="2011680"/>
          </a:xfrm>
          <a:prstGeom prst="roundRect">
            <a:avLst/>
          </a:prstGeom>
          <a:solidFill>
            <a:srgbClr val="0F1520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wrap="square"/>
          <a:lstStyle/>
          <a:p>
            <a:pPr algn="ctr">
              <a:defRPr b="1" sz="1100">
                <a:solidFill>
                  <a:srgbClr val="8B5CF6"/>
                </a:solidFill>
              </a:defRPr>
            </a:pPr>
            <a:r>
              <a:t>TURNKEY REMEDIATION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Provides side-by-side Before/After code snippets using official Open Quantum Safe (liboqs) libraries.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Developers can copy-paste PQC drop-in replacements directly into production code.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0" y="274320"/>
            <a:ext cx="822960" cy="320040"/>
          </a:xfrm>
          <a:prstGeom prst="roundRect">
            <a:avLst/>
          </a:prstGeom>
          <a:solidFill>
            <a:srgbClr val="0F1520"/>
          </a:solidFill>
          <a:ln>
            <a:solidFill>
              <a:srgbClr val="1C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8B5CF6"/>
                </a:solidFill>
              </a:defRPr>
            </a:pPr>
            <a:r>
              <a:t>5 /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F8FAFC"/>
                </a:solidFill>
              </a:defRPr>
            </a:pPr>
            <a:r>
              <a:t>NATIONAL IMPACT &amp; STAKEHOLDER VALUE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Securing India's critical cyber infrastructure before the Quantum Decryption Horizon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0F1520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wrap="square"/>
          <a:lstStyle/>
          <a:p>
            <a:pPr algn="ctr">
              <a:defRPr b="1" sz="1100">
                <a:solidFill>
                  <a:srgbClr val="EF4444"/>
                </a:solidFill>
              </a:defRPr>
            </a:pPr>
            <a:r>
              <a:t>NTRO &amp; DEFENSE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Protects classified military communications and command networks from retro-active HNDL decryption.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Provides audit proof for CNSA 2.0 and national post-quantum mandates.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468880" cy="4389120"/>
          </a:xfrm>
          <a:prstGeom prst="roundRect">
            <a:avLst/>
          </a:prstGeom>
          <a:solidFill>
            <a:srgbClr val="0F1520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wrap="square"/>
          <a:lstStyle/>
          <a:p>
            <a:pPr algn="ctr">
              <a:defRPr b="1" sz="1100">
                <a:solidFill>
                  <a:srgbClr val="8B5CF6"/>
                </a:solidFill>
              </a:defRPr>
            </a:pPr>
            <a:r>
              <a:t>BANKING &amp; FINTECH (RBI)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Audits payment gateways, core banking APIs, and JWT tokens against RSA deprecation.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Enforces 15-year financial data shelf-life protection.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2468880" cy="4389120"/>
          </a:xfrm>
          <a:prstGeom prst="roundRect">
            <a:avLst/>
          </a:prstGeom>
          <a:solidFill>
            <a:srgbClr val="0F1520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wrap="square"/>
          <a:lstStyle/>
          <a:p>
            <a:pPr algn="ctr">
              <a:defRPr b="1" sz="1100">
                <a:solidFill>
                  <a:srgbClr val="06B6D4"/>
                </a:solidFill>
              </a:defRPr>
            </a:pPr>
            <a:r>
              <a:t>NATIONAL IDENTITY (AADHAAR)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Inventories asymmetric encryption across citizen biometric registries with 30-year confidentiality lifespans.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645920"/>
            <a:ext cx="2468880" cy="4389120"/>
          </a:xfrm>
          <a:prstGeom prst="roundRect">
            <a:avLst/>
          </a:prstGeom>
          <a:solidFill>
            <a:srgbClr val="0F1520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wrap="square"/>
          <a:lstStyle/>
          <a:p>
            <a:pPr algn="ctr">
              <a:defRPr b="1" sz="1100">
                <a:solidFill>
                  <a:srgbClr val="10B981"/>
                </a:solidFill>
              </a:defRPr>
            </a:pPr>
            <a:r>
              <a:t>DEVSECOPS PIPELINES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Acts as an automated pre-commit hook preventing developers from committing deprecated algorithms (MD5, DES, RSA-1024).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0" y="274320"/>
            <a:ext cx="822960" cy="320040"/>
          </a:xfrm>
          <a:prstGeom prst="roundRect">
            <a:avLst/>
          </a:prstGeom>
          <a:solidFill>
            <a:srgbClr val="0F1520"/>
          </a:solidFill>
          <a:ln>
            <a:solidFill>
              <a:srgbClr val="1C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8B5CF6"/>
                </a:solidFill>
              </a:defRPr>
            </a:pPr>
            <a:r>
              <a:t>6 /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F8FAFC"/>
                </a:solidFill>
              </a:defRPr>
            </a:pPr>
            <a:r>
              <a:t>SCIENTIFIC RIGOR &amp; HONEST SCAN BOUNDARIES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Defensible engineering limits that build trust with evaluator juries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0F1520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wrap="square"/>
          <a:lstStyle/>
          <a:p>
            <a:pPr algn="ctr">
              <a:defRPr b="1" sz="1200">
                <a:solidFill>
                  <a:srgbClr val="10B981"/>
                </a:solidFill>
              </a:defRPr>
            </a:pPr>
            <a:r>
              <a:t>WHAT ECDAT ACCURATELY DETECTS (~85%)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✔ Static Code Analysis: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Identifies all standard crypto library imports and calls (cryptography, PyCryptodome, javax.crypto, Node.js crypto, OpenSSL).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✔ Key Size &amp; Cipher Modes: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Parses explicit key length constants (RSA 1024 vs 2048 vs 4096; AES-128 vs 256).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✔ Deprecated Hashes &amp; Protocols: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Detects MD5, SHA-1, 3DES, DES, and TLS 1.0/1.1 legacy contexts.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✔ Embedded Key Material: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Surfaces hardcoded RSA/ECC private key blocks in code.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0F1520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wrap="square"/>
          <a:lstStyle/>
          <a:p>
            <a:pPr algn="ctr">
              <a:defRPr b="1" sz="1200">
                <a:solidFill>
                  <a:srgbClr val="F59E0B"/>
                </a:solidFill>
              </a:defRPr>
            </a:pPr>
            <a:r>
              <a:t>HONEST LIMITATIONS (PHASE 2 ROADMAP)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⚠ Dynamic Runtime Loading: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Cannot detect cryptography invoked via runtime reflection or dynamic code execution (`eval`/dynamic loading).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⚠ Compiled Binary Scanning: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Current release scans source code and scripts. Compiled binary (.so/.dll/ELF) symbol analysis is scoped for Phase 2.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⚠ Proprietary Custom Ciphers: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Custom home-grown encryption routines without standard naming conventions require manual AST modeling.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⚠ Phase 2 eBPF &amp; Dynamic Agent: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To achieve 100% visibility, Phase 2 implements an eBPF Linux kernel tracer monitoring OpenSSL socket encryption at runtime.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0" y="274320"/>
            <a:ext cx="822960" cy="320040"/>
          </a:xfrm>
          <a:prstGeom prst="roundRect">
            <a:avLst/>
          </a:prstGeom>
          <a:solidFill>
            <a:srgbClr val="0F1520"/>
          </a:solidFill>
          <a:ln>
            <a:solidFill>
              <a:srgbClr val="1C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8B5CF6"/>
                </a:solidFill>
              </a:defRPr>
            </a:pPr>
            <a:r>
              <a:t>7 /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F8FAFC"/>
                </a:solidFill>
              </a:defRPr>
            </a:pPr>
            <a:r>
              <a:t>DEPLOYMENT ROADMAP &amp; FUTURE ENHANCEMENTS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From University Prototype to National Quantum-Defense Readiness Tool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0F1520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wrap="square"/>
          <a:lstStyle/>
          <a:p>
            <a:pPr algn="ctr">
              <a:defRPr b="1" sz="1200">
                <a:solidFill>
                  <a:srgbClr val="10B981"/>
                </a:solidFill>
              </a:defRPr>
            </a:pPr>
            <a:r>
              <a:t>PHASE 1 (COMPLETED MVP)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✔ Multi-Language Static AST &amp; Pattern Scanner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✔ Quantum Impact Classifier (Shor's vs Grover's)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✔ Mosca's Inequality Risk Engine (X + Y &gt; Z)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✔ CycloneDX v1.6 Standard CBOM Generator (JSON)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✔ NIST FIPS 203/204 Drop-in Code Diffs (Kyber/Dilithium)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✔ Interactive Cyber SOC Dashboard &amp; PDF Report Export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3383280" cy="4389120"/>
          </a:xfrm>
          <a:prstGeom prst="roundRect">
            <a:avLst/>
          </a:prstGeom>
          <a:solidFill>
            <a:srgbClr val="0F1520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wrap="square"/>
          <a:lstStyle/>
          <a:p>
            <a:pPr algn="ctr">
              <a:defRPr b="1" sz="1200">
                <a:solidFill>
                  <a:srgbClr val="06B6D4"/>
                </a:solidFill>
              </a:defRPr>
            </a:pPr>
            <a:r>
              <a:t>PHASE 2 (NEXT 6 MONTHS)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GitHub / GitLab CI/CD Automated Pull Request Bot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Binary (.so / .dll / ELF) Cryptographic Symbol Scanning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eBPF Linux Kernel Runtime Cryptographic Trace Agent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Automatic Transitive Dependency Package Tree Parsing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Integration with HashiCorp Vault &amp; AWS CloudHSM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3383280" cy="4389120"/>
          </a:xfrm>
          <a:prstGeom prst="roundRect">
            <a:avLst/>
          </a:prstGeom>
          <a:solidFill>
            <a:srgbClr val="0F1520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wrap="square"/>
          <a:lstStyle/>
          <a:p>
            <a:pPr algn="ctr">
              <a:defRPr b="1" sz="1200">
                <a:solidFill>
                  <a:srgbClr val="8B5CF6"/>
                </a:solidFill>
              </a:defRPr>
            </a:pPr>
            <a:r>
              <a:t>PHASE 3 (NATIONAL HORIZON)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National Post-Quantum Compliance Portal for NCIIPC / CERT-In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Continuous Automated PQC Audit for Defense Procurement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Hybrid Classical/PQC TLS Intermediary Gateway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Pan-India Banking Software Cryptographic Risk Census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